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2"/>
  </p:notesMasterIdLst>
  <p:handoutMasterIdLst>
    <p:handoutMasterId r:id="rId13"/>
  </p:handoutMasterIdLst>
  <p:sldIdLst>
    <p:sldId id="256" r:id="rId2"/>
    <p:sldId id="289" r:id="rId3"/>
    <p:sldId id="290" r:id="rId4"/>
    <p:sldId id="295" r:id="rId5"/>
    <p:sldId id="296" r:id="rId6"/>
    <p:sldId id="293" r:id="rId7"/>
    <p:sldId id="297" r:id="rId8"/>
    <p:sldId id="298" r:id="rId9"/>
    <p:sldId id="294" r:id="rId10"/>
    <p:sldId id="288" r:id="rId1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02B70BE-D945-421A-8843-7BFE17E8B716}" v="1" dt="2026-02-03T12:25:46.74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538" autoAdjust="0"/>
    <p:restoredTop sz="83529" autoAdjust="0"/>
  </p:normalViewPr>
  <p:slideViewPr>
    <p:cSldViewPr>
      <p:cViewPr>
        <p:scale>
          <a:sx n="66" d="100"/>
          <a:sy n="66" d="100"/>
        </p:scale>
        <p:origin x="1762" y="110"/>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delSld modSld">
      <pc:chgData name="Christian Camilo Cano Vasquez" userId="8c73a2a4-758b-4e34-81ed-39462e48bd92" providerId="ADAL" clId="{E6287060-0277-4BCC-9556-78F4A9113EC4}" dt="2026-02-03T12:26:13.728" v="13" actId="20577"/>
      <pc:docMkLst>
        <pc:docMk/>
      </pc:docMkLst>
      <pc:sldChg chg="modSp mod">
        <pc:chgData name="Christian Camilo Cano Vasquez" userId="8c73a2a4-758b-4e34-81ed-39462e48bd92" providerId="ADAL" clId="{E6287060-0277-4BCC-9556-78F4A9113EC4}" dt="2026-02-03T12:26:13.728" v="13" actId="20577"/>
        <pc:sldMkLst>
          <pc:docMk/>
          <pc:sldMk cId="560234623" sldId="289"/>
        </pc:sldMkLst>
        <pc:spChg chg="mod">
          <ac:chgData name="Christian Camilo Cano Vasquez" userId="8c73a2a4-758b-4e34-81ed-39462e48bd92" providerId="ADAL" clId="{E6287060-0277-4BCC-9556-78F4A9113EC4}" dt="2026-02-03T12:26:13.728" v="13" actId="20577"/>
          <ac:spMkLst>
            <pc:docMk/>
            <pc:sldMk cId="560234623" sldId="289"/>
            <ac:spMk id="4" creationId="{9F7BC140-B3D8-C3CB-55AD-9064C7CDE9CA}"/>
          </ac:spMkLst>
        </pc:spChg>
      </pc:sldChg>
      <pc:sldChg chg="del">
        <pc:chgData name="Christian Camilo Cano Vasquez" userId="8c73a2a4-758b-4e34-81ed-39462e48bd92" providerId="ADAL" clId="{E6287060-0277-4BCC-9556-78F4A9113EC4}" dt="2026-02-03T12:24:53.171" v="0" actId="47"/>
        <pc:sldMkLst>
          <pc:docMk/>
          <pc:sldMk cId="3712356003" sldId="291"/>
        </pc:sldMkLst>
      </pc:sldChg>
      <pc:sldChg chg="modSp mod">
        <pc:chgData name="Christian Camilo Cano Vasquez" userId="8c73a2a4-758b-4e34-81ed-39462e48bd92" providerId="ADAL" clId="{E6287060-0277-4BCC-9556-78F4A9113EC4}" dt="2026-02-03T12:25:25.147" v="3" actId="115"/>
        <pc:sldMkLst>
          <pc:docMk/>
          <pc:sldMk cId="3660438245" sldId="293"/>
        </pc:sldMkLst>
        <pc:spChg chg="mod">
          <ac:chgData name="Christian Camilo Cano Vasquez" userId="8c73a2a4-758b-4e34-81ed-39462e48bd92" providerId="ADAL" clId="{E6287060-0277-4BCC-9556-78F4A9113EC4}" dt="2026-02-03T12:25:25.147" v="3" actId="115"/>
          <ac:spMkLst>
            <pc:docMk/>
            <pc:sldMk cId="3660438245" sldId="293"/>
            <ac:spMk id="4" creationId="{D838A93A-BFC8-0124-93CE-FDC193435A0C}"/>
          </ac:spMkLst>
        </pc:spChg>
        <pc:spChg chg="mod">
          <ac:chgData name="Christian Camilo Cano Vasquez" userId="8c73a2a4-758b-4e34-81ed-39462e48bd92" providerId="ADAL" clId="{E6287060-0277-4BCC-9556-78F4A9113EC4}" dt="2026-02-03T12:25:18.697" v="1" actId="20577"/>
          <ac:spMkLst>
            <pc:docMk/>
            <pc:sldMk cId="3660438245" sldId="293"/>
            <ac:spMk id="16" creationId="{742C31CE-19F0-B995-0997-9A2D6A879BF7}"/>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E0A9-150E-0ADB-2765-67B0CCABEAD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26124BC-9704-8425-BB2A-DD89B6946E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6D10526-984C-5FE2-48BE-115CCB3F775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EA24616-5D95-0B1E-3E33-445F970E28BD}"/>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7476597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2867E-EB72-EE97-C63B-9829C90409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FC64014-7240-8AFD-B13E-9E46D97F797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BD83962-EF63-672C-6471-D17532DDEB0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BACE1BF-E991-81CA-24A1-6C541448F950}"/>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974664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43086-1A8A-462C-6E53-3A5ED986CE1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2874456-09F3-B440-63F6-61703D6773A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14629C4-9B5F-6F8F-67DF-38AD8363295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C4B5056-175D-721F-EE93-6F5A203EACFA}"/>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31660163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CDD6A-3F98-8AF1-6592-F38EFBE80A6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B4AD5CF-3531-D202-C57F-9C006ABD841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9BACF69-0044-FDEA-574E-5B159EFEC41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BF47826-57FF-64E1-7B7E-A48032521225}"/>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4366249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D91D2-5C68-7463-BB22-512D033A498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DC91D77-F470-DC6E-ABBE-D88D38EC629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B3C1124-A0EE-7324-4A71-2D62A5344F93}"/>
              </a:ext>
            </a:extLst>
          </p:cNvPr>
          <p:cNvSpPr>
            <a:spLocks noGrp="1"/>
          </p:cNvSpPr>
          <p:nvPr>
            <p:ph type="body" idx="1"/>
          </p:nvPr>
        </p:nvSpPr>
        <p:spPr/>
        <p:txBody>
          <a:bodyPr/>
          <a:lstStyle/>
          <a:p>
            <a:r>
              <a:rPr lang="es-ES" dirty="0"/>
              <a:t>Mencionar que a medida que incrementa el ancho de la guía se incrementa el numero de modos que se propaga a través de la misma, una forma practica de conocer el numero de modos es llevar a cabo las simulaciones de su índice efectivo y verificar el punto en los que estos comienzan a acercarse al índice efectivo del </a:t>
            </a:r>
            <a:r>
              <a:rPr lang="es-ES" dirty="0" err="1"/>
              <a:t>cladding</a:t>
            </a:r>
            <a:r>
              <a:rPr lang="es-ES" dirty="0"/>
              <a:t>, podríamos afirmar que a partir del modo 23 comienza a acercarse al índice de refracción del silicio de 1,45 </a:t>
            </a:r>
          </a:p>
        </p:txBody>
      </p:sp>
      <p:sp>
        <p:nvSpPr>
          <p:cNvPr id="4" name="Marcador de número de diapositiva 3">
            <a:extLst>
              <a:ext uri="{FF2B5EF4-FFF2-40B4-BE49-F238E27FC236}">
                <a16:creationId xmlns:a16="http://schemas.microsoft.com/office/drawing/2014/main" id="{A64A9024-0BF4-5A2E-B819-2FF537F04280}"/>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323893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0.2.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0.2.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0.2.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0.2.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0.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80.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0.2.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n-US" kern="0" dirty="0">
                <a:solidFill>
                  <a:sysClr val="windowText" lastClr="000000"/>
                </a:solidFill>
                <a:sym typeface="Wingdings" pitchFamily="2" charset="2"/>
                <a:hlinkClick r:id="rId4"/>
              </a:rPr>
              <a:t>https://github.com/cccanvas-upv/pic-upv-lab0.git</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a:solidFill>
                  <a:sysClr val="windowText" lastClr="000000"/>
                </a:solidFill>
              </a:rPr>
              <a:t>020_COUPLERS_Student.ipynb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D0F8CF3B-B920-DBFC-F825-0C87B51EADA7}"/>
                  </a:ext>
                </a:extLst>
              </p:cNvPr>
              <p:cNvSpPr txBox="1"/>
              <p:nvPr/>
            </p:nvSpPr>
            <p:spPr>
              <a:xfrm>
                <a:off x="532525" y="3581400"/>
                <a:ext cx="11199971" cy="2492990"/>
              </a:xfrm>
              <a:prstGeom prst="rect">
                <a:avLst/>
              </a:prstGeom>
              <a:solidFill>
                <a:schemeClr val="bg1">
                  <a:lumMod val="95000"/>
                </a:schemeClr>
              </a:solidFill>
              <a:ln w="28575">
                <a:solidFill>
                  <a:srgbClr val="E0700D"/>
                </a:solidFill>
              </a:ln>
            </p:spPr>
            <p:txBody>
              <a:bodyPr wrap="square" rtlCol="0">
                <a:spAutoFit/>
              </a:bodyPr>
              <a:lstStyle/>
              <a:p>
                <a:pPr algn="just"/>
                <a:r>
                  <a:rPr lang="es-CO" sz="1600" dirty="0">
                    <a:latin typeface="Arial" panose="020B0604020202020204" pitchFamily="34" charset="0"/>
                    <a:cs typeface="Arial" panose="020B0604020202020204" pitchFamily="34" charset="0"/>
                  </a:rPr>
                  <a:t>In a </a:t>
                </a:r>
                <a:r>
                  <a:rPr lang="es-CO" sz="1600" dirty="0" err="1">
                    <a:latin typeface="Arial" panose="020B0604020202020204" pitchFamily="34" charset="0"/>
                    <a:cs typeface="Arial" panose="020B0604020202020204" pitchFamily="34" charset="0"/>
                  </a:rPr>
                  <a:t>coupled</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system</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the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structure</a:t>
                </a:r>
                <a:r>
                  <a:rPr lang="es-CO" sz="1600" dirty="0">
                    <a:latin typeface="Arial" panose="020B0604020202020204" pitchFamily="34" charset="0"/>
                    <a:cs typeface="Arial" panose="020B0604020202020204" pitchFamily="34" charset="0"/>
                  </a:rPr>
                  <a:t> no </a:t>
                </a:r>
                <a:r>
                  <a:rPr lang="es-CO" sz="1600" dirty="0" err="1">
                    <a:latin typeface="Arial" panose="020B0604020202020204" pitchFamily="34" charset="0"/>
                    <a:cs typeface="Arial" panose="020B0604020202020204" pitchFamily="34" charset="0"/>
                  </a:rPr>
                  <a:t>longer</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behaves</a:t>
                </a:r>
                <a:r>
                  <a:rPr lang="es-CO" sz="1600" dirty="0">
                    <a:latin typeface="Arial" panose="020B0604020202020204" pitchFamily="34" charset="0"/>
                    <a:cs typeface="Arial" panose="020B0604020202020204" pitchFamily="34" charset="0"/>
                  </a:rPr>
                  <a:t> as </a:t>
                </a:r>
                <a:r>
                  <a:rPr lang="es-CO" sz="1600" dirty="0" err="1">
                    <a:latin typeface="Arial" panose="020B0604020202020204" pitchFamily="34" charset="0"/>
                    <a:cs typeface="Arial" panose="020B0604020202020204" pitchFamily="34" charset="0"/>
                  </a:rPr>
                  <a:t>two</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independent</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waveguides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but</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instead</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supports</a:t>
                </a:r>
                <a:r>
                  <a:rPr lang="es-CO" sz="1600" dirty="0">
                    <a:latin typeface="Arial" panose="020B0604020202020204" pitchFamily="34" charset="0"/>
                    <a:cs typeface="Arial" panose="020B0604020202020204" pitchFamily="34" charset="0"/>
                  </a:rPr>
                  <a:t> global </a:t>
                </a:r>
                <a:r>
                  <a:rPr lang="es-CO" sz="1600" dirty="0" err="1">
                    <a:latin typeface="Arial" panose="020B0604020202020204" pitchFamily="34" charset="0"/>
                    <a:cs typeface="Arial" panose="020B0604020202020204" pitchFamily="34" charset="0"/>
                  </a:rPr>
                  <a:t>eigenmodes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of</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the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combined</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structure</a:t>
                </a:r>
                <a:r>
                  <a:rPr lang="es-CO" sz="1600" dirty="0">
                    <a:latin typeface="Arial" panose="020B0604020202020204" pitchFamily="34" charset="0"/>
                    <a:cs typeface="Arial" panose="020B0604020202020204" pitchFamily="34" charset="0"/>
                  </a:rPr>
                  <a:t>. In a </a:t>
                </a:r>
                <a:r>
                  <a:rPr lang="es-CO" sz="1600" dirty="0" err="1">
                    <a:latin typeface="Arial" panose="020B0604020202020204" pitchFamily="34" charset="0"/>
                    <a:cs typeface="Arial" panose="020B0604020202020204" pitchFamily="34" charset="0"/>
                  </a:rPr>
                  <a:t>directional</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coupler</a:t>
                </a:r>
                <a:r>
                  <a:rPr lang="es-CO" sz="1600" dirty="0">
                    <a:latin typeface="Arial" panose="020B0604020202020204" pitchFamily="34" charset="0"/>
                    <a:cs typeface="Arial" panose="020B0604020202020204" pitchFamily="34" charset="0"/>
                  </a:rPr>
                  <a:t> (DC), </a:t>
                </a:r>
                <a:r>
                  <a:rPr lang="es-CO" sz="1600" dirty="0" err="1">
                    <a:latin typeface="Arial" panose="020B0604020202020204" pitchFamily="34" charset="0"/>
                    <a:cs typeface="Arial" panose="020B0604020202020204" pitchFamily="34" charset="0"/>
                  </a:rPr>
                  <a:t>two</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supermodes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arise</a:t>
                </a:r>
                <a:r>
                  <a:rPr lang="es-CO" sz="1600" dirty="0">
                    <a:latin typeface="Arial" panose="020B0604020202020204" pitchFamily="34" charset="0"/>
                    <a:cs typeface="Arial" panose="020B0604020202020204" pitchFamily="34" charset="0"/>
                  </a:rPr>
                  <a:t>: a </a:t>
                </a:r>
                <a:r>
                  <a:rPr lang="es-CO" sz="1600" dirty="0" err="1">
                    <a:latin typeface="Arial" panose="020B0604020202020204" pitchFamily="34" charset="0"/>
                    <a:cs typeface="Arial" panose="020B0604020202020204" pitchFamily="34" charset="0"/>
                  </a:rPr>
                  <a:t>symmetric</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even</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supermode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characterized</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by</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an</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in-phase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field</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distribution</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across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both</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waveguides</a:t>
                </a:r>
                <a:r>
                  <a:rPr lang="es-CO" sz="1600" dirty="0">
                    <a:latin typeface="Arial" panose="020B0604020202020204" pitchFamily="34" charset="0"/>
                    <a:cs typeface="Arial" panose="020B0604020202020204" pitchFamily="34" charset="0"/>
                  </a:rPr>
                  <a:t>, and </a:t>
                </a:r>
                <a:r>
                  <a:rPr lang="es-CO" sz="1600" dirty="0" err="1">
                    <a:latin typeface="Arial" panose="020B0604020202020204" pitchFamily="34" charset="0"/>
                    <a:cs typeface="Arial" panose="020B0604020202020204" pitchFamily="34" charset="0"/>
                  </a:rPr>
                  <a:t>an</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antisymmetric</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odd</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supermode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which</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exhibits</a:t>
                </a:r>
                <a:r>
                  <a:rPr lang="es-CO" sz="1600" dirty="0">
                    <a:latin typeface="Arial" panose="020B0604020202020204" pitchFamily="34" charset="0"/>
                    <a:cs typeface="Arial" panose="020B0604020202020204" pitchFamily="34" charset="0"/>
                  </a:rPr>
                  <a:t> a </a:t>
                </a:r>
                <a:r>
                  <a:rPr lang="el-GR" sz="1600" dirty="0">
                    <a:latin typeface="Arial" panose="020B0604020202020204" pitchFamily="34" charset="0"/>
                    <a:cs typeface="Arial" panose="020B0604020202020204" pitchFamily="34" charset="0"/>
                  </a:rPr>
                  <a:t>π </a:t>
                </a:r>
                <a:r>
                  <a:rPr lang="es-CO" sz="1600" dirty="0" err="1">
                    <a:latin typeface="Arial" panose="020B0604020202020204" pitchFamily="34" charset="0"/>
                    <a:cs typeface="Arial" panose="020B0604020202020204" pitchFamily="34" charset="0"/>
                  </a:rPr>
                  <a:t>phase</a:t>
                </a:r>
                <a:r>
                  <a:rPr lang="es-CO" sz="1600" dirty="0">
                    <a:latin typeface="Arial" panose="020B0604020202020204" pitchFamily="34" charset="0"/>
                    <a:cs typeface="Arial" panose="020B0604020202020204" pitchFamily="34" charset="0"/>
                  </a:rPr>
                  <a:t> shift </a:t>
                </a:r>
                <a:r>
                  <a:rPr lang="es-CO" sz="1600" dirty="0" err="1">
                    <a:latin typeface="Arial" panose="020B0604020202020204" pitchFamily="34" charset="0"/>
                    <a:cs typeface="Arial" panose="020B0604020202020204" pitchFamily="34" charset="0"/>
                  </a:rPr>
                  <a:t>between</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the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two</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waveguides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This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behavior</a:t>
                </a:r>
                <a:r>
                  <a:rPr lang="es-CO" sz="1600" dirty="0">
                    <a:latin typeface="Arial" panose="020B0604020202020204" pitchFamily="34" charset="0"/>
                    <a:cs typeface="Arial" panose="020B0604020202020204" pitchFamily="34" charset="0"/>
                  </a:rPr>
                  <a:t> can be </a:t>
                </a:r>
                <a:r>
                  <a:rPr lang="es-CO" sz="1600" dirty="0" err="1">
                    <a:latin typeface="Arial" panose="020B0604020202020204" pitchFamily="34" charset="0"/>
                    <a:cs typeface="Arial" panose="020B0604020202020204" pitchFamily="34" charset="0"/>
                  </a:rPr>
                  <a:t>observed</a:t>
                </a:r>
                <a:r>
                  <a:rPr lang="es-CO" sz="1600" dirty="0">
                    <a:latin typeface="Arial" panose="020B0604020202020204" pitchFamily="34" charset="0"/>
                    <a:cs typeface="Arial" panose="020B0604020202020204" pitchFamily="34" charset="0"/>
                  </a:rPr>
                  <a:t> in </a:t>
                </a:r>
                <a:r>
                  <a:rPr lang="es-CO" sz="1600" dirty="0" err="1">
                    <a:latin typeface="Arial" panose="020B0604020202020204" pitchFamily="34" charset="0"/>
                    <a:cs typeface="Arial" panose="020B0604020202020204" pitchFamily="34" charset="0"/>
                  </a:rPr>
                  <a:t>mode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pairs</a:t>
                </a:r>
                <a:r>
                  <a:rPr lang="es-CO" sz="1600" dirty="0">
                    <a:latin typeface="Arial" panose="020B0604020202020204" pitchFamily="34" charset="0"/>
                    <a:cs typeface="Arial" panose="020B0604020202020204" pitchFamily="34" charset="0"/>
                  </a:rPr>
                  <a:t> 0–1 and 2–3.</a:t>
                </a:r>
              </a:p>
              <a:p>
                <a:pPr algn="just"/>
                <a:endParaRPr lang="es-CO" sz="1600" dirty="0">
                  <a:latin typeface="Arial" panose="020B0604020202020204" pitchFamily="34" charset="0"/>
                  <a:cs typeface="Arial" panose="020B0604020202020204" pitchFamily="34" charset="0"/>
                </a:endParaRPr>
              </a:p>
              <a:p>
                <a:pPr algn="just"/>
                <a:r>
                  <a:rPr lang="es-CO" sz="1600" dirty="0" err="1">
                    <a:latin typeface="Arial" panose="020B0604020202020204" pitchFamily="34" charset="0"/>
                    <a:cs typeface="Arial" panose="020B0604020202020204" pitchFamily="34" charset="0"/>
                  </a:rPr>
                  <a:t>Furthermore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the</a:t>
                </a:r>
                <a:r>
                  <a:rPr lang="es-CO" sz="1600" dirty="0">
                    <a:latin typeface="Arial" panose="020B0604020202020204" pitchFamily="34" charset="0"/>
                    <a:cs typeface="Arial" panose="020B0604020202020204" pitchFamily="34" charset="0"/>
                  </a:rPr>
                  <a:t> TE </a:t>
                </a:r>
                <a:r>
                  <a:rPr lang="es-CO" sz="1600" dirty="0" err="1">
                    <a:latin typeface="Arial" panose="020B0604020202020204" pitchFamily="34" charset="0"/>
                    <a:cs typeface="Arial" panose="020B0604020202020204" pitchFamily="34" charset="0"/>
                  </a:rPr>
                  <a:t>polarization</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supports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two</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supermodes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while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the</a:t>
                </a:r>
                <a:r>
                  <a:rPr lang="es-CO" sz="1600" dirty="0">
                    <a:latin typeface="Arial" panose="020B0604020202020204" pitchFamily="34" charset="0"/>
                    <a:cs typeface="Arial" panose="020B0604020202020204" pitchFamily="34" charset="0"/>
                  </a:rPr>
                  <a:t> TM </a:t>
                </a:r>
                <a:r>
                  <a:rPr lang="es-CO" sz="1600" dirty="0" err="1">
                    <a:latin typeface="Arial" panose="020B0604020202020204" pitchFamily="34" charset="0"/>
                    <a:cs typeface="Arial" panose="020B0604020202020204" pitchFamily="34" charset="0"/>
                  </a:rPr>
                  <a:t>polarization</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supports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another</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two</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supermodes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From</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each</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corresponding</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pair</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of</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effective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indices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it</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is</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possible</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to</a:t>
                </a:r>
                <a:r>
                  <a:rPr lang="es-CO" sz="1600" dirty="0">
                    <a:latin typeface="Arial" panose="020B0604020202020204" pitchFamily="34" charset="0"/>
                    <a:cs typeface="Arial" panose="020B0604020202020204" pitchFamily="34" charset="0"/>
                  </a:rPr>
                  <a:t> determine a beat </a:t>
                </a:r>
                <a:r>
                  <a:rPr lang="es-CO" sz="1600" dirty="0" err="1">
                    <a:latin typeface="Arial" panose="020B0604020202020204" pitchFamily="34" charset="0"/>
                    <a:cs typeface="Arial" panose="020B0604020202020204" pitchFamily="34" charset="0"/>
                  </a:rPr>
                  <a:t>length</a:t>
                </a:r>
                <a:r>
                  <a:rPr lang="es-CO" sz="1600" dirty="0">
                    <a:latin typeface="Arial" panose="020B0604020202020204" pitchFamily="34" charset="0"/>
                    <a:cs typeface="Arial" panose="020B0604020202020204" pitchFamily="34" charset="0"/>
                  </a:rPr>
                  <a:t> </a:t>
                </a:r>
                <a14:m>
                  <m:oMath xmlns:m="http://schemas.openxmlformats.org/officeDocument/2006/math">
                    <m:sSub>
                      <m:sSubPr>
                        <m:ctrlPr>
                          <a:rPr lang="ar-AE" sz="1600"/>
                        </m:ctrlPr>
                      </m:sSubPr>
                      <m:e>
                        <m:r>
                          <a:rPr lang="ar-AE" sz="1600"/>
                          <m:t>𝐿</m:t>
                        </m:r>
                      </m:e>
                      <m:sub>
                        <m:r>
                          <a:rPr lang="ar-AE" sz="1600"/>
                          <m:t>𝜋</m:t>
                        </m:r>
                      </m:sub>
                    </m:sSub>
                  </m:oMath>
                </a14:m>
                <a:r>
                  <a:rPr lang="es-CO" sz="1600" dirty="0" err="1">
                    <a:latin typeface="Arial" panose="020B0604020202020204" pitchFamily="34" charset="0"/>
                    <a:cs typeface="Arial" panose="020B0604020202020204" pitchFamily="34" charset="0"/>
                  </a:rPr>
                  <a:t>for</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the</a:t>
                </a:r>
                <a:r>
                  <a:rPr lang="es-CO" sz="1600" dirty="0">
                    <a:latin typeface="Arial" panose="020B0604020202020204" pitchFamily="34" charset="0"/>
                    <a:cs typeface="Arial" panose="020B0604020202020204" pitchFamily="34" charset="0"/>
                  </a:rPr>
                  <a:t> TE </a:t>
                </a:r>
                <a:r>
                  <a:rPr lang="es-CO" sz="1600" dirty="0" err="1">
                    <a:latin typeface="Arial" panose="020B0604020202020204" pitchFamily="34" charset="0"/>
                    <a:cs typeface="Arial" panose="020B0604020202020204" pitchFamily="34" charset="0"/>
                  </a:rPr>
                  <a:t>supermodes</a:t>
                </a:r>
                <a:r>
                  <a:rPr lang="es-CO" sz="1600" dirty="0">
                    <a:latin typeface="Arial" panose="020B0604020202020204" pitchFamily="34" charset="0"/>
                    <a:cs typeface="Arial" panose="020B0604020202020204" pitchFamily="34" charset="0"/>
                  </a:rPr>
                  <a:t> and </a:t>
                </a:r>
                <a:r>
                  <a:rPr lang="es-CO" sz="1600" dirty="0" err="1">
                    <a:latin typeface="Arial" panose="020B0604020202020204" pitchFamily="34" charset="0"/>
                    <a:cs typeface="Arial" panose="020B0604020202020204" pitchFamily="34" charset="0"/>
                  </a:rPr>
                  <a:t>another</a:t>
                </a:r>
                <a:r>
                  <a:rPr lang="es-CO" sz="1600" dirty="0">
                    <a:latin typeface="Arial" panose="020B0604020202020204" pitchFamily="34" charset="0"/>
                    <a:cs typeface="Arial" panose="020B0604020202020204" pitchFamily="34" charset="0"/>
                  </a:rPr>
                  <a:t> </a:t>
                </a:r>
                <a14:m>
                  <m:oMath xmlns:m="http://schemas.openxmlformats.org/officeDocument/2006/math">
                    <m:sSub>
                      <m:sSubPr>
                        <m:ctrlPr>
                          <a:rPr lang="ar-AE" sz="1600"/>
                        </m:ctrlPr>
                      </m:sSubPr>
                      <m:e>
                        <m:r>
                          <a:rPr lang="ar-AE" sz="1600"/>
                          <m:t>𝐿</m:t>
                        </m:r>
                      </m:e>
                      <m:sub>
                        <m:r>
                          <a:rPr lang="ar-AE" sz="1600"/>
                          <m:t>𝜋</m:t>
                        </m:r>
                      </m:sub>
                    </m:sSub>
                  </m:oMath>
                </a14:m>
                <a:r>
                  <a:rPr lang="es-CO" sz="1600" dirty="0" err="1">
                    <a:latin typeface="Arial" panose="020B0604020202020204" pitchFamily="34" charset="0"/>
                    <a:cs typeface="Arial" panose="020B0604020202020204" pitchFamily="34" charset="0"/>
                  </a:rPr>
                  <a:t>for</a:t>
                </a:r>
                <a:r>
                  <a:rPr lang="es-CO" sz="1600" dirty="0">
                    <a:latin typeface="Arial" panose="020B0604020202020204" pitchFamily="34" charset="0"/>
                    <a:cs typeface="Arial" panose="020B0604020202020204" pitchFamily="34" charset="0"/>
                  </a:rPr>
                  <a:t> </a:t>
                </a:r>
                <a:r>
                  <a:rPr lang="es-CO" sz="1600" dirty="0" err="1">
                    <a:latin typeface="Arial" panose="020B0604020202020204" pitchFamily="34" charset="0"/>
                    <a:cs typeface="Arial" panose="020B0604020202020204" pitchFamily="34" charset="0"/>
                  </a:rPr>
                  <a:t>the</a:t>
                </a:r>
                <a:r>
                  <a:rPr lang="es-CO" sz="1600" dirty="0">
                    <a:latin typeface="Arial" panose="020B0604020202020204" pitchFamily="34" charset="0"/>
                    <a:cs typeface="Arial" panose="020B0604020202020204" pitchFamily="34" charset="0"/>
                  </a:rPr>
                  <a:t> TM </a:t>
                </a:r>
                <a:r>
                  <a:rPr lang="es-CO" sz="1600" dirty="0" err="1">
                    <a:latin typeface="Arial" panose="020B0604020202020204" pitchFamily="34" charset="0"/>
                    <a:cs typeface="Arial" panose="020B0604020202020204" pitchFamily="34" charset="0"/>
                  </a:rPr>
                  <a:t>supermodes</a:t>
                </a:r>
                <a:r>
                  <a:rPr lang="es-CO" sz="16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D0F8CF3B-B920-DBFC-F825-0C87B51EADA7}"/>
                  </a:ext>
                </a:extLst>
              </p:cNvPr>
              <p:cNvSpPr txBox="1">
                <a:spLocks noRot="1" noChangeAspect="1" noMove="1" noResize="1" noEditPoints="1" noAdjustHandles="1" noChangeArrowheads="1" noChangeShapeType="1" noTextEdit="1"/>
              </p:cNvSpPr>
              <p:nvPr/>
            </p:nvSpPr>
            <p:spPr>
              <a:xfrm>
                <a:off x="532525" y="3581400"/>
                <a:ext cx="11199971" cy="2492990"/>
              </a:xfrm>
              <a:prstGeom prst="rect">
                <a:avLst/>
              </a:prstGeom>
              <a:blipFill>
                <a:blip r:embed="rId6"/>
                <a:stretch>
                  <a:fillRect l="-163" t="-242" r="-109"/>
                </a:stretch>
              </a:blipFill>
              <a:ln w="28575">
                <a:solidFill>
                  <a:srgbClr val="E0700D"/>
                </a:solidFill>
              </a:ln>
            </p:spPr>
            <p:txBody>
              <a:bodyPr/>
              <a:lstStyle/>
              <a:p>
                <a:r>
                  <a:rPr lang="es-CO">
                    <a:noFill/>
                  </a:rPr>
                  <a:t> </a:t>
                </a:r>
              </a:p>
            </p:txBody>
          </p:sp>
        </mc:Fallback>
      </mc:AlternateContent>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4F58A-FF11-AA47-949D-1BEB61CCBFD8}"/>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6E8C167-6221-07F8-814E-0520AB52D5DA}"/>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036DB22-713E-B72C-BFDF-A710C7E54E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040E791-4DD0-3AAF-1645-27AE57F33606}"/>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C671B851-542A-B1E9-6C70-51D29E38DA55}"/>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sp>
        <p:nvSpPr>
          <p:cNvPr id="25" name="TextBox 24">
            <a:extLst>
              <a:ext uri="{FF2B5EF4-FFF2-40B4-BE49-F238E27FC236}">
                <a16:creationId xmlns:a16="http://schemas.microsoft.com/office/drawing/2014/main" id="{328862E4-31A4-B4F2-55D0-50DF957BE680}"/>
              </a:ext>
            </a:extLst>
          </p:cNvPr>
          <p:cNvSpPr txBox="1"/>
          <p:nvPr/>
        </p:nvSpPr>
        <p:spPr>
          <a:xfrm>
            <a:off x="694065" y="1136126"/>
            <a:ext cx="5105400" cy="369332"/>
          </a:xfrm>
          <a:prstGeom prst="rect">
            <a:avLst/>
          </a:prstGeom>
          <a:noFill/>
        </p:spPr>
        <p:txBody>
          <a:bodyPr wrap="square">
            <a:spAutoFit/>
          </a:bodyPr>
          <a:lstStyle/>
          <a:p>
            <a:pPr marL="0" indent="0">
              <a:buNone/>
            </a:pPr>
            <a:r>
              <a:rPr lang="en-US" sz="1800" b="1" dirty="0"/>
              <a:t>Mode 0: TE Fraction: 99,49 %, TM Fraction 0,51 %</a:t>
            </a:r>
          </a:p>
        </p:txBody>
      </p:sp>
      <p:sp>
        <p:nvSpPr>
          <p:cNvPr id="26" name="TextBox 25">
            <a:extLst>
              <a:ext uri="{FF2B5EF4-FFF2-40B4-BE49-F238E27FC236}">
                <a16:creationId xmlns:a16="http://schemas.microsoft.com/office/drawing/2014/main" id="{1C449536-0113-E0A1-38F6-4F83C0C3EE6F}"/>
              </a:ext>
            </a:extLst>
          </p:cNvPr>
          <p:cNvSpPr txBox="1"/>
          <p:nvPr/>
        </p:nvSpPr>
        <p:spPr>
          <a:xfrm>
            <a:off x="6600210" y="1136126"/>
            <a:ext cx="4905990" cy="369332"/>
          </a:xfrm>
          <a:prstGeom prst="rect">
            <a:avLst/>
          </a:prstGeom>
          <a:noFill/>
        </p:spPr>
        <p:txBody>
          <a:bodyPr wrap="square">
            <a:spAutoFit/>
          </a:bodyPr>
          <a:lstStyle/>
          <a:p>
            <a:pPr marL="0" indent="0">
              <a:buNone/>
            </a:pPr>
            <a:r>
              <a:rPr lang="en-US" sz="1800" b="1" dirty="0"/>
              <a:t>Mode 1: TE Fraction: 99,53 %, TM Fraction 0,47 %</a:t>
            </a:r>
          </a:p>
        </p:txBody>
      </p:sp>
      <p:pic>
        <p:nvPicPr>
          <p:cNvPr id="27" name="Picture 26">
            <a:extLst>
              <a:ext uri="{FF2B5EF4-FFF2-40B4-BE49-F238E27FC236}">
                <a16:creationId xmlns:a16="http://schemas.microsoft.com/office/drawing/2014/main" id="{BC4EED85-0039-0E8B-D417-C0496B8D19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232" y="1889125"/>
            <a:ext cx="4686300" cy="3959116"/>
          </a:xfrm>
          <a:prstGeom prst="rect">
            <a:avLst/>
          </a:prstGeom>
        </p:spPr>
      </p:pic>
      <p:pic>
        <p:nvPicPr>
          <p:cNvPr id="28" name="Picture 27">
            <a:extLst>
              <a:ext uri="{FF2B5EF4-FFF2-40B4-BE49-F238E27FC236}">
                <a16:creationId xmlns:a16="http://schemas.microsoft.com/office/drawing/2014/main" id="{C87CAA45-A8B1-C9BB-971B-5BAF204D238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679402" y="1889125"/>
            <a:ext cx="4775179" cy="3959116"/>
          </a:xfrm>
          <a:prstGeom prst="rect">
            <a:avLst/>
          </a:prstGeom>
        </p:spPr>
      </p:pic>
      <p:sp>
        <p:nvSpPr>
          <p:cNvPr id="29" name="TextBox 28">
            <a:extLst>
              <a:ext uri="{FF2B5EF4-FFF2-40B4-BE49-F238E27FC236}">
                <a16:creationId xmlns:a16="http://schemas.microsoft.com/office/drawing/2014/main" id="{78C2F905-4797-69D2-EC68-F0D3E423B133}"/>
              </a:ext>
            </a:extLst>
          </p:cNvPr>
          <p:cNvSpPr txBox="1"/>
          <p:nvPr/>
        </p:nvSpPr>
        <p:spPr>
          <a:xfrm>
            <a:off x="1447800" y="4991100"/>
            <a:ext cx="2555506" cy="369332"/>
          </a:xfrm>
          <a:prstGeom prst="rect">
            <a:avLst/>
          </a:prstGeom>
          <a:noFill/>
        </p:spPr>
        <p:txBody>
          <a:bodyPr wrap="square">
            <a:spAutoFit/>
          </a:bodyPr>
          <a:lstStyle/>
          <a:p>
            <a:pPr marL="0" indent="0">
              <a:buNone/>
            </a:pPr>
            <a:r>
              <a:rPr lang="en-US" sz="1800" b="1" dirty="0"/>
              <a:t>Even (Symmetric) mode</a:t>
            </a:r>
          </a:p>
        </p:txBody>
      </p:sp>
      <p:sp>
        <p:nvSpPr>
          <p:cNvPr id="30" name="TextBox 29">
            <a:extLst>
              <a:ext uri="{FF2B5EF4-FFF2-40B4-BE49-F238E27FC236}">
                <a16:creationId xmlns:a16="http://schemas.microsoft.com/office/drawing/2014/main" id="{310C5CEB-9E1D-CD66-373E-F4CE2341EF53}"/>
              </a:ext>
            </a:extLst>
          </p:cNvPr>
          <p:cNvSpPr txBox="1"/>
          <p:nvPr/>
        </p:nvSpPr>
        <p:spPr>
          <a:xfrm>
            <a:off x="6679402" y="4991100"/>
            <a:ext cx="2962704" cy="369332"/>
          </a:xfrm>
          <a:prstGeom prst="rect">
            <a:avLst/>
          </a:prstGeom>
          <a:noFill/>
        </p:spPr>
        <p:txBody>
          <a:bodyPr wrap="square">
            <a:spAutoFit/>
          </a:bodyPr>
          <a:lstStyle/>
          <a:p>
            <a:pPr marL="0" indent="0">
              <a:buNone/>
            </a:pPr>
            <a:r>
              <a:rPr lang="en-US" sz="1800" b="1" dirty="0"/>
              <a:t>Odd (Antisymmetric) mode</a:t>
            </a:r>
          </a:p>
        </p:txBody>
      </p:sp>
    </p:spTree>
    <p:extLst>
      <p:ext uri="{BB962C8B-B14F-4D97-AF65-F5344CB8AC3E}">
        <p14:creationId xmlns:p14="http://schemas.microsoft.com/office/powerpoint/2010/main" val="2740224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AFA11-28A2-CF68-37B3-118528F4CBA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67379C1-AC0D-4519-962B-87AE59E0F67F}"/>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9676F91-8CE0-D6B0-7F16-E9D87B6ADA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784DDE9-7BD2-E775-49AB-BE373EC90BE3}"/>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4CA04638-683C-0E84-6653-FA3B9268F887}"/>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sp>
        <p:nvSpPr>
          <p:cNvPr id="25" name="TextBox 24">
            <a:extLst>
              <a:ext uri="{FF2B5EF4-FFF2-40B4-BE49-F238E27FC236}">
                <a16:creationId xmlns:a16="http://schemas.microsoft.com/office/drawing/2014/main" id="{304CD9F6-2427-1B0E-DB0D-33F471D9A6EF}"/>
              </a:ext>
            </a:extLst>
          </p:cNvPr>
          <p:cNvSpPr txBox="1"/>
          <p:nvPr/>
        </p:nvSpPr>
        <p:spPr>
          <a:xfrm>
            <a:off x="800100" y="1139241"/>
            <a:ext cx="5105400" cy="369332"/>
          </a:xfrm>
          <a:prstGeom prst="rect">
            <a:avLst/>
          </a:prstGeom>
          <a:noFill/>
        </p:spPr>
        <p:txBody>
          <a:bodyPr wrap="square">
            <a:spAutoFit/>
          </a:bodyPr>
          <a:lstStyle/>
          <a:p>
            <a:pPr marL="0" indent="0">
              <a:buNone/>
            </a:pPr>
            <a:r>
              <a:rPr lang="en-US" sz="1800" b="1" dirty="0"/>
              <a:t>Mode 2: TE Fraction: 0,89 %, TM Fraction 99,11 %</a:t>
            </a:r>
          </a:p>
        </p:txBody>
      </p:sp>
      <p:sp>
        <p:nvSpPr>
          <p:cNvPr id="26" name="TextBox 25">
            <a:extLst>
              <a:ext uri="{FF2B5EF4-FFF2-40B4-BE49-F238E27FC236}">
                <a16:creationId xmlns:a16="http://schemas.microsoft.com/office/drawing/2014/main" id="{DE2DF547-ADA3-83A6-03A8-815FF1C32BA0}"/>
              </a:ext>
            </a:extLst>
          </p:cNvPr>
          <p:cNvSpPr txBox="1"/>
          <p:nvPr/>
        </p:nvSpPr>
        <p:spPr>
          <a:xfrm>
            <a:off x="6858645" y="1139241"/>
            <a:ext cx="4905990" cy="369332"/>
          </a:xfrm>
          <a:prstGeom prst="rect">
            <a:avLst/>
          </a:prstGeom>
          <a:noFill/>
        </p:spPr>
        <p:txBody>
          <a:bodyPr wrap="square">
            <a:spAutoFit/>
          </a:bodyPr>
          <a:lstStyle/>
          <a:p>
            <a:pPr marL="0" indent="0">
              <a:buNone/>
            </a:pPr>
            <a:r>
              <a:rPr lang="en-US" sz="1800" b="1" dirty="0"/>
              <a:t>Mode 3: TE Fraction: 1,13 %, TM Fraction 98,87 %</a:t>
            </a:r>
          </a:p>
        </p:txBody>
      </p:sp>
      <p:pic>
        <p:nvPicPr>
          <p:cNvPr id="5" name="Picture 4">
            <a:extLst>
              <a:ext uri="{FF2B5EF4-FFF2-40B4-BE49-F238E27FC236}">
                <a16:creationId xmlns:a16="http://schemas.microsoft.com/office/drawing/2014/main" id="{1E298896-4CFE-20F9-715F-92B633EBF01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0001" y="1755000"/>
            <a:ext cx="4792409" cy="3960000"/>
          </a:xfrm>
          <a:prstGeom prst="rect">
            <a:avLst/>
          </a:prstGeom>
        </p:spPr>
      </p:pic>
      <p:pic>
        <p:nvPicPr>
          <p:cNvPr id="6" name="Picture 5">
            <a:extLst>
              <a:ext uri="{FF2B5EF4-FFF2-40B4-BE49-F238E27FC236}">
                <a16:creationId xmlns:a16="http://schemas.microsoft.com/office/drawing/2014/main" id="{3D566154-D917-D75A-B7CD-0441259492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53822" y="1755000"/>
            <a:ext cx="4786013" cy="3960000"/>
          </a:xfrm>
          <a:prstGeom prst="rect">
            <a:avLst/>
          </a:prstGeom>
        </p:spPr>
      </p:pic>
      <p:sp>
        <p:nvSpPr>
          <p:cNvPr id="7" name="TextBox 6">
            <a:extLst>
              <a:ext uri="{FF2B5EF4-FFF2-40B4-BE49-F238E27FC236}">
                <a16:creationId xmlns:a16="http://schemas.microsoft.com/office/drawing/2014/main" id="{80E0A06F-45B3-3CCA-3D82-A054BAE39E08}"/>
              </a:ext>
            </a:extLst>
          </p:cNvPr>
          <p:cNvSpPr txBox="1"/>
          <p:nvPr/>
        </p:nvSpPr>
        <p:spPr>
          <a:xfrm>
            <a:off x="1447800" y="4991100"/>
            <a:ext cx="2555506" cy="369332"/>
          </a:xfrm>
          <a:prstGeom prst="rect">
            <a:avLst/>
          </a:prstGeom>
          <a:noFill/>
        </p:spPr>
        <p:txBody>
          <a:bodyPr wrap="square">
            <a:spAutoFit/>
          </a:bodyPr>
          <a:lstStyle/>
          <a:p>
            <a:pPr marL="0" indent="0">
              <a:buNone/>
            </a:pPr>
            <a:r>
              <a:rPr lang="en-US" sz="1800" b="1" dirty="0"/>
              <a:t>Even (Symmetric) mode</a:t>
            </a:r>
          </a:p>
        </p:txBody>
      </p:sp>
      <p:sp>
        <p:nvSpPr>
          <p:cNvPr id="8" name="TextBox 7">
            <a:extLst>
              <a:ext uri="{FF2B5EF4-FFF2-40B4-BE49-F238E27FC236}">
                <a16:creationId xmlns:a16="http://schemas.microsoft.com/office/drawing/2014/main" id="{9B6CD7A9-A3EE-0C34-0462-01BE155CACFB}"/>
              </a:ext>
            </a:extLst>
          </p:cNvPr>
          <p:cNvSpPr txBox="1"/>
          <p:nvPr/>
        </p:nvSpPr>
        <p:spPr>
          <a:xfrm>
            <a:off x="6679402" y="4991100"/>
            <a:ext cx="2962704" cy="369332"/>
          </a:xfrm>
          <a:prstGeom prst="rect">
            <a:avLst/>
          </a:prstGeom>
          <a:noFill/>
        </p:spPr>
        <p:txBody>
          <a:bodyPr wrap="square">
            <a:spAutoFit/>
          </a:bodyPr>
          <a:lstStyle/>
          <a:p>
            <a:pPr marL="0" indent="0">
              <a:buNone/>
            </a:pPr>
            <a:r>
              <a:rPr lang="en-US" sz="1800" b="1" dirty="0"/>
              <a:t>Odd (Antisymmetric) mode</a:t>
            </a:r>
          </a:p>
        </p:txBody>
      </p:sp>
    </p:spTree>
    <p:extLst>
      <p:ext uri="{BB962C8B-B14F-4D97-AF65-F5344CB8AC3E}">
        <p14:creationId xmlns:p14="http://schemas.microsoft.com/office/powerpoint/2010/main" val="25454707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15728" y="3657600"/>
            <a:ext cx="11199971" cy="2554545"/>
          </a:xfrm>
          <a:prstGeom prst="rect">
            <a:avLst/>
          </a:prstGeom>
          <a:solidFill>
            <a:schemeClr val="bg1">
              <a:lumMod val="95000"/>
            </a:schemeClr>
          </a:solidFill>
          <a:ln w="28575">
            <a:solidFill>
              <a:srgbClr val="E0700D"/>
            </a:solidFill>
          </a:ln>
        </p:spPr>
        <p:txBody>
          <a:bodyPr wrap="square" rtlCol="0">
            <a:spAutoFit/>
          </a:bodyPr>
          <a:lstStyle/>
          <a:p>
            <a:pPr algn="just"/>
            <a:r>
              <a:rPr lang="en-US" sz="1600" dirty="0"/>
              <a:t>During the simulation process, it is important to consider that as the waveguide becomes wider, a larger number of modes are able to propagate. A practical way to determine how many modes are actually guided is to verify whether their effective index is higher than the refractive index of the cladding. If this condition is satisfied, the mode is confined; otherwise, it corresponds to a radiation or leaky mode.</a:t>
            </a:r>
            <a:endParaRPr lang="es-CO" sz="1600" dirty="0"/>
          </a:p>
          <a:p>
            <a:pPr algn="just"/>
            <a:r>
              <a:rPr lang="en-US" sz="1600" dirty="0"/>
              <a:t>In the case of an MMI, the calculation of L</a:t>
            </a:r>
            <a:r>
              <a:rPr lang="es-CO" sz="1600" dirty="0"/>
              <a:t>π</a:t>
            </a:r>
            <a:r>
              <a:rPr lang="en-US" sz="1600" dirty="0"/>
              <a:t> no longer describes the transfer of optical power between two adjacent waveguides, as happens in a directional coupler. Instead, L</a:t>
            </a:r>
            <a:r>
              <a:rPr lang="es-CO" sz="1600" dirty="0"/>
              <a:t>π</a:t>
            </a:r>
            <a:r>
              <a:rPr lang="en-US" sz="1600" dirty="0"/>
              <a:t> represents the periodicity of the interference that occurs between the modes propagating inside the multimode section.</a:t>
            </a:r>
            <a:endParaRPr lang="es-CO" sz="1600" dirty="0"/>
          </a:p>
          <a:p>
            <a:pPr algn="just"/>
            <a:r>
              <a:rPr lang="en-US" sz="1600" dirty="0"/>
              <a:t>It is possible to take the difference between the effective indices of the first two guided modes to find L</a:t>
            </a:r>
            <a:r>
              <a:rPr lang="es-CO" sz="1600" dirty="0"/>
              <a:t>π</a:t>
            </a:r>
            <a:r>
              <a:rPr lang="en-US" sz="1600" dirty="0"/>
              <a:t>. However, it is important to respect the polarization of the modes, meaning that the calculation must be performed using either TE modes or TM modes separately, since modes belonging to different polarization families do not interfere with each other.</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0438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2B2D-192D-7A13-67EE-C1AEC5BCA4E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A7A4464-82C0-1700-5CA7-314AE94D4F5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A365D421-C51D-18A2-01BC-DE606468FE1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5EC1078-1A87-F2AD-03DB-8678DFCABE43}"/>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9791846A-18EC-FC87-E998-5041CEA93ADF}"/>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sp>
        <p:nvSpPr>
          <p:cNvPr id="5" name="TextBox 4">
            <a:extLst>
              <a:ext uri="{FF2B5EF4-FFF2-40B4-BE49-F238E27FC236}">
                <a16:creationId xmlns:a16="http://schemas.microsoft.com/office/drawing/2014/main" id="{DF4279DB-4DF1-2461-92C8-B02C69EC3154}"/>
              </a:ext>
            </a:extLst>
          </p:cNvPr>
          <p:cNvSpPr txBox="1"/>
          <p:nvPr/>
        </p:nvSpPr>
        <p:spPr>
          <a:xfrm>
            <a:off x="694065" y="1136126"/>
            <a:ext cx="5105400" cy="369332"/>
          </a:xfrm>
          <a:prstGeom prst="rect">
            <a:avLst/>
          </a:prstGeom>
          <a:noFill/>
        </p:spPr>
        <p:txBody>
          <a:bodyPr wrap="square">
            <a:spAutoFit/>
          </a:bodyPr>
          <a:lstStyle/>
          <a:p>
            <a:pPr marL="0" indent="0">
              <a:buNone/>
            </a:pPr>
            <a:r>
              <a:rPr lang="en-US" sz="1800" b="1" dirty="0"/>
              <a:t>Mode 0: TE Fraction: 100,00 %, TM Fraction 0,00 %</a:t>
            </a:r>
          </a:p>
        </p:txBody>
      </p:sp>
      <p:sp>
        <p:nvSpPr>
          <p:cNvPr id="6" name="TextBox 5">
            <a:extLst>
              <a:ext uri="{FF2B5EF4-FFF2-40B4-BE49-F238E27FC236}">
                <a16:creationId xmlns:a16="http://schemas.microsoft.com/office/drawing/2014/main" id="{4949F73F-A9C8-8EE1-2FB5-DBDD1673F892}"/>
              </a:ext>
            </a:extLst>
          </p:cNvPr>
          <p:cNvSpPr txBox="1"/>
          <p:nvPr/>
        </p:nvSpPr>
        <p:spPr>
          <a:xfrm>
            <a:off x="6600210" y="1136126"/>
            <a:ext cx="5080000" cy="369332"/>
          </a:xfrm>
          <a:prstGeom prst="rect">
            <a:avLst/>
          </a:prstGeom>
          <a:noFill/>
        </p:spPr>
        <p:txBody>
          <a:bodyPr wrap="square">
            <a:spAutoFit/>
          </a:bodyPr>
          <a:lstStyle/>
          <a:p>
            <a:pPr marL="0" indent="0">
              <a:buNone/>
            </a:pPr>
            <a:r>
              <a:rPr lang="en-US" sz="1800" b="1" dirty="0"/>
              <a:t>Mode 1: TE Fraction: 100,00 %, TM Fraction 0,00 %</a:t>
            </a:r>
          </a:p>
        </p:txBody>
      </p:sp>
      <p:pic>
        <p:nvPicPr>
          <p:cNvPr id="12" name="Picture 11">
            <a:extLst>
              <a:ext uri="{FF2B5EF4-FFF2-40B4-BE49-F238E27FC236}">
                <a16:creationId xmlns:a16="http://schemas.microsoft.com/office/drawing/2014/main" id="{895D73EE-146B-7640-3465-300C8CBF0F5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 y="1639008"/>
            <a:ext cx="5266954" cy="4480569"/>
          </a:xfrm>
          <a:prstGeom prst="rect">
            <a:avLst/>
          </a:prstGeom>
        </p:spPr>
      </p:pic>
      <p:pic>
        <p:nvPicPr>
          <p:cNvPr id="14" name="Picture 13">
            <a:extLst>
              <a:ext uri="{FF2B5EF4-FFF2-40B4-BE49-F238E27FC236}">
                <a16:creationId xmlns:a16="http://schemas.microsoft.com/office/drawing/2014/main" id="{7560B380-0B2B-CF7A-D13F-00B2FCBB26E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600210" y="1741938"/>
            <a:ext cx="5376683" cy="4480569"/>
          </a:xfrm>
          <a:prstGeom prst="rect">
            <a:avLst/>
          </a:prstGeom>
        </p:spPr>
      </p:pic>
    </p:spTree>
    <p:extLst>
      <p:ext uri="{BB962C8B-B14F-4D97-AF65-F5344CB8AC3E}">
        <p14:creationId xmlns:p14="http://schemas.microsoft.com/office/powerpoint/2010/main" val="17770879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D9445-28C9-17A2-36C8-978DF7F5813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FC70CC7-B74D-2B84-5ECF-6FA2CE404E5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86A84213-79A6-E977-4AE6-399CD1C5215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1AE7EA7-F473-506C-C008-E4AF63DE3799}"/>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CE9BC9BB-05BF-D4D8-2BC5-CCE3339895DD}"/>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sp>
        <p:nvSpPr>
          <p:cNvPr id="5" name="TextBox 4">
            <a:extLst>
              <a:ext uri="{FF2B5EF4-FFF2-40B4-BE49-F238E27FC236}">
                <a16:creationId xmlns:a16="http://schemas.microsoft.com/office/drawing/2014/main" id="{EB97D2CC-B49D-C65F-D595-230C64C23D53}"/>
              </a:ext>
            </a:extLst>
          </p:cNvPr>
          <p:cNvSpPr txBox="1"/>
          <p:nvPr/>
        </p:nvSpPr>
        <p:spPr>
          <a:xfrm>
            <a:off x="694065" y="1136126"/>
            <a:ext cx="5105400" cy="369332"/>
          </a:xfrm>
          <a:prstGeom prst="rect">
            <a:avLst/>
          </a:prstGeom>
          <a:noFill/>
        </p:spPr>
        <p:txBody>
          <a:bodyPr wrap="square">
            <a:spAutoFit/>
          </a:bodyPr>
          <a:lstStyle/>
          <a:p>
            <a:pPr marL="0" indent="0">
              <a:buNone/>
            </a:pPr>
            <a:r>
              <a:rPr lang="en-US" sz="1800" b="1" dirty="0"/>
              <a:t>Mode 9: TE Fraction:0,02%, TM Fraction 99,98 %</a:t>
            </a:r>
          </a:p>
        </p:txBody>
      </p:sp>
      <p:sp>
        <p:nvSpPr>
          <p:cNvPr id="6" name="TextBox 5">
            <a:extLst>
              <a:ext uri="{FF2B5EF4-FFF2-40B4-BE49-F238E27FC236}">
                <a16:creationId xmlns:a16="http://schemas.microsoft.com/office/drawing/2014/main" id="{48A26BE8-659A-50CC-B378-2B13B7F6CBF7}"/>
              </a:ext>
            </a:extLst>
          </p:cNvPr>
          <p:cNvSpPr txBox="1"/>
          <p:nvPr/>
        </p:nvSpPr>
        <p:spPr>
          <a:xfrm>
            <a:off x="6600210" y="1136126"/>
            <a:ext cx="5080000" cy="369332"/>
          </a:xfrm>
          <a:prstGeom prst="rect">
            <a:avLst/>
          </a:prstGeom>
          <a:noFill/>
        </p:spPr>
        <p:txBody>
          <a:bodyPr wrap="square">
            <a:spAutoFit/>
          </a:bodyPr>
          <a:lstStyle/>
          <a:p>
            <a:pPr marL="0" indent="0">
              <a:buNone/>
            </a:pPr>
            <a:r>
              <a:rPr lang="en-US" sz="1800" b="1" dirty="0"/>
              <a:t>Mode 10: TE Fraction: </a:t>
            </a:r>
            <a:r>
              <a:rPr lang="en-US" b="1" dirty="0"/>
              <a:t>0,10</a:t>
            </a:r>
            <a:r>
              <a:rPr lang="en-US" sz="1800" b="1" dirty="0"/>
              <a:t> %, TM Fraction 99,98 %</a:t>
            </a:r>
          </a:p>
        </p:txBody>
      </p:sp>
      <p:pic>
        <p:nvPicPr>
          <p:cNvPr id="4" name="Picture 3">
            <a:extLst>
              <a:ext uri="{FF2B5EF4-FFF2-40B4-BE49-F238E27FC236}">
                <a16:creationId xmlns:a16="http://schemas.microsoft.com/office/drawing/2014/main" id="{7A2522CF-F172-CB06-104E-946927F9078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9046" y="1662843"/>
            <a:ext cx="5266954" cy="4480569"/>
          </a:xfrm>
          <a:prstGeom prst="rect">
            <a:avLst/>
          </a:prstGeom>
        </p:spPr>
      </p:pic>
      <p:pic>
        <p:nvPicPr>
          <p:cNvPr id="8" name="Picture 7">
            <a:extLst>
              <a:ext uri="{FF2B5EF4-FFF2-40B4-BE49-F238E27FC236}">
                <a16:creationId xmlns:a16="http://schemas.microsoft.com/office/drawing/2014/main" id="{C73A3583-9489-15EB-7855-224225BD496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630111" y="1662842"/>
            <a:ext cx="5376683" cy="4480569"/>
          </a:xfrm>
          <a:prstGeom prst="rect">
            <a:avLst/>
          </a:prstGeom>
        </p:spPr>
      </p:pic>
    </p:spTree>
    <p:extLst>
      <p:ext uri="{BB962C8B-B14F-4D97-AF65-F5344CB8AC3E}">
        <p14:creationId xmlns:p14="http://schemas.microsoft.com/office/powerpoint/2010/main" val="4096436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099CE-A83E-4D36-3379-1B1D449454F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12173D2-8888-9B94-0CD9-EC5F16659549}"/>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Modes propagating on a MMI with a width of 12 um</a:t>
            </a:r>
            <a:endParaRPr lang="en-US" sz="2500" b="0" dirty="0">
              <a:latin typeface="+mj-lt"/>
              <a:cs typeface="Lucida Sans"/>
            </a:endParaRPr>
          </a:p>
        </p:txBody>
      </p:sp>
      <p:pic>
        <p:nvPicPr>
          <p:cNvPr id="83" name="Gráfico 82">
            <a:extLst>
              <a:ext uri="{FF2B5EF4-FFF2-40B4-BE49-F238E27FC236}">
                <a16:creationId xmlns:a16="http://schemas.microsoft.com/office/drawing/2014/main" id="{74C62BD7-4E6D-0E8F-1BF1-FCAFAC9F83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BF169CE-40B3-D116-0157-BDD5FDF7D888}"/>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4B33E3E8-6A0F-8FC3-C2CE-318516DD8415}"/>
              </a:ext>
            </a:extLst>
          </p:cNvPr>
          <p:cNvSpPr>
            <a:spLocks noGrp="1"/>
          </p:cNvSpPr>
          <p:nvPr>
            <p:ph type="ftr" sz="quarter" idx="5"/>
          </p:nvPr>
        </p:nvSpPr>
        <p:spPr/>
        <p:txBody>
          <a:bodyPr/>
          <a:lstStyle/>
          <a:p>
            <a:pPr marL="12700">
              <a:spcBef>
                <a:spcPts val="15"/>
              </a:spcBef>
            </a:pPr>
            <a:r>
              <a:rPr lang="es-ES" spc="-5"/>
              <a:t>LAB 0.2. COUPLERS</a:t>
            </a:r>
            <a:endParaRPr lang="es-ES" spc="-5" dirty="0"/>
          </a:p>
        </p:txBody>
      </p:sp>
      <p:pic>
        <p:nvPicPr>
          <p:cNvPr id="6" name="Picture 5">
            <a:extLst>
              <a:ext uri="{FF2B5EF4-FFF2-40B4-BE49-F238E27FC236}">
                <a16:creationId xmlns:a16="http://schemas.microsoft.com/office/drawing/2014/main" id="{12B20D7D-A5F4-5E2D-CBE4-B34095DBFE7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81200" y="1066800"/>
            <a:ext cx="7671831" cy="4480569"/>
          </a:xfrm>
          <a:prstGeom prst="rect">
            <a:avLst/>
          </a:prstGeom>
        </p:spPr>
      </p:pic>
    </p:spTree>
    <p:extLst>
      <p:ext uri="{BB962C8B-B14F-4D97-AF65-F5344CB8AC3E}">
        <p14:creationId xmlns:p14="http://schemas.microsoft.com/office/powerpoint/2010/main" val="33144941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874</TotalTime>
  <Words>899</Words>
  <Application>Microsoft Office PowerPoint</Application>
  <PresentationFormat>Widescreen</PresentationFormat>
  <Paragraphs>93</Paragraphs>
  <Slides>10</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Aptos</vt:lpstr>
      <vt:lpstr>Arial</vt:lpstr>
      <vt:lpstr>Calibri</vt:lpstr>
      <vt:lpstr>Cambria Math</vt:lpstr>
      <vt:lpstr>Lucida Sans</vt:lpstr>
      <vt:lpstr>Times New Roman</vt:lpstr>
      <vt:lpstr>Wingdings</vt:lpstr>
      <vt:lpstr>Office Theme</vt:lpstr>
      <vt:lpstr>PowerPoint Presentation</vt:lpstr>
      <vt:lpstr>Instructions General</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Multimode Interference (MMI) Coupler cross-section</vt:lpstr>
      <vt:lpstr>Learning outcome #2 – Multimode Interference (MMI) Coupler cross-section</vt:lpstr>
      <vt:lpstr>Learning outcome #2 – Multimode Interference (MMI) Coupler cross-section</vt:lpstr>
      <vt:lpstr>Learning outcome #2 – Modes propagating on a MMI with a width of 12 um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Nicolás Ospina Mendivelso</cp:lastModifiedBy>
  <cp:revision>13</cp:revision>
  <dcterms:created xsi:type="dcterms:W3CDTF">2025-01-27T02:46:57Z</dcterms:created>
  <dcterms:modified xsi:type="dcterms:W3CDTF">2026-03-02T19:24:23Z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