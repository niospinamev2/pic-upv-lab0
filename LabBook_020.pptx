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256" r:id="rId2"/>
    <p:sldId id="289" r:id="rId3"/>
    <p:sldId id="290" r:id="rId4"/>
    <p:sldId id="293" r:id="rId5"/>
    <p:sldId id="294" r:id="rId6"/>
    <p:sldId id="288" r:id="rId7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02B70BE-D945-421A-8843-7BFE17E8B716}" v="1" dt="2026-02-03T12:25:46.74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538" autoAdjust="0"/>
    <p:restoredTop sz="83529" autoAdjust="0"/>
  </p:normalViewPr>
  <p:slideViewPr>
    <p:cSldViewPr>
      <p:cViewPr varScale="1">
        <p:scale>
          <a:sx n="69" d="100"/>
          <a:sy n="69" d="100"/>
        </p:scale>
        <p:origin x="1666" y="5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Camilo Cano Vasquez" userId="8c73a2a4-758b-4e34-81ed-39462e48bd92" providerId="ADAL" clId="{E6287060-0277-4BCC-9556-78F4A9113EC4}"/>
    <pc:docChg chg="delSld modSld">
      <pc:chgData name="Christian Camilo Cano Vasquez" userId="8c73a2a4-758b-4e34-81ed-39462e48bd92" providerId="ADAL" clId="{E6287060-0277-4BCC-9556-78F4A9113EC4}" dt="2026-02-03T12:26:13.728" v="13" actId="20577"/>
      <pc:docMkLst>
        <pc:docMk/>
      </pc:docMkLst>
      <pc:sldChg chg="modSp mod">
        <pc:chgData name="Christian Camilo Cano Vasquez" userId="8c73a2a4-758b-4e34-81ed-39462e48bd92" providerId="ADAL" clId="{E6287060-0277-4BCC-9556-78F4A9113EC4}" dt="2026-02-03T12:26:13.728" v="13" actId="20577"/>
        <pc:sldMkLst>
          <pc:docMk/>
          <pc:sldMk cId="560234623" sldId="289"/>
        </pc:sldMkLst>
        <pc:spChg chg="mod">
          <ac:chgData name="Christian Camilo Cano Vasquez" userId="8c73a2a4-758b-4e34-81ed-39462e48bd92" providerId="ADAL" clId="{E6287060-0277-4BCC-9556-78F4A9113EC4}" dt="2026-02-03T12:26:13.728" v="13" actId="20577"/>
          <ac:spMkLst>
            <pc:docMk/>
            <pc:sldMk cId="560234623" sldId="289"/>
            <ac:spMk id="4" creationId="{9F7BC140-B3D8-C3CB-55AD-9064C7CDE9CA}"/>
          </ac:spMkLst>
        </pc:spChg>
      </pc:sldChg>
      <pc:sldChg chg="del">
        <pc:chgData name="Christian Camilo Cano Vasquez" userId="8c73a2a4-758b-4e34-81ed-39462e48bd92" providerId="ADAL" clId="{E6287060-0277-4BCC-9556-78F4A9113EC4}" dt="2026-02-03T12:24:53.171" v="0" actId="47"/>
        <pc:sldMkLst>
          <pc:docMk/>
          <pc:sldMk cId="3712356003" sldId="291"/>
        </pc:sldMkLst>
      </pc:sldChg>
      <pc:sldChg chg="modSp mod">
        <pc:chgData name="Christian Camilo Cano Vasquez" userId="8c73a2a4-758b-4e34-81ed-39462e48bd92" providerId="ADAL" clId="{E6287060-0277-4BCC-9556-78F4A9113EC4}" dt="2026-02-03T12:25:25.147" v="3" actId="115"/>
        <pc:sldMkLst>
          <pc:docMk/>
          <pc:sldMk cId="3660438245" sldId="293"/>
        </pc:sldMkLst>
        <pc:spChg chg="mod">
          <ac:chgData name="Christian Camilo Cano Vasquez" userId="8c73a2a4-758b-4e34-81ed-39462e48bd92" providerId="ADAL" clId="{E6287060-0277-4BCC-9556-78F4A9113EC4}" dt="2026-02-03T12:25:25.147" v="3" actId="115"/>
          <ac:spMkLst>
            <pc:docMk/>
            <pc:sldMk cId="3660438245" sldId="293"/>
            <ac:spMk id="4" creationId="{D838A93A-BFC8-0124-93CE-FDC193435A0C}"/>
          </ac:spMkLst>
        </pc:spChg>
        <pc:spChg chg="mod">
          <ac:chgData name="Christian Camilo Cano Vasquez" userId="8c73a2a4-758b-4e34-81ed-39462e48bd92" providerId="ADAL" clId="{E6287060-0277-4BCC-9556-78F4A9113EC4}" dt="2026-02-03T12:25:18.697" v="1" actId="20577"/>
          <ac:spMkLst>
            <pc:docMk/>
            <pc:sldMk cId="3660438245" sldId="293"/>
            <ac:spMk id="16" creationId="{742C31CE-19F0-B995-0997-9A2D6A879BF7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02/03/2026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02/03/2026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173827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D91D2-5C68-7463-BB22-512D033A4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DC91D77-F470-DC6E-ABBE-D88D38EC62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B3C1124-A0EE-7324-4A71-2D62A5344F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Mencionar que a medida que incrementa el ancho de la guía se incrementa el numero de modos que se propaga a través de la misma, una forma practica de conocer el numero de modos es llevar a cabo las simulaciones de su índice efectivo y verificar el punto en los que estos comienzan a acercarse al índice efectivo del </a:t>
            </a:r>
            <a:r>
              <a:rPr lang="es-ES" dirty="0" err="1"/>
              <a:t>cladding</a:t>
            </a:r>
            <a:r>
              <a:rPr lang="es-ES" dirty="0"/>
              <a:t>, podríamos afirmar que a partir del modo 23 comienza a acercarse al índice de refracción del silicio de 1,45 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64A9024-0BF4-5A2E-B819-2FF537F042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323893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0.2. COUPLERS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0.2. COUPLERS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0.2. COUPLERS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0.2. COUPLERS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ccanvas-upv/pic-upv-lab0.git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0.2. </a:t>
            </a:r>
            <a:r>
              <a:rPr lang="es-ES" sz="3200" b="1" dirty="0" err="1">
                <a:latin typeface="Lucida Sans"/>
                <a:cs typeface="Lucida Sans"/>
              </a:rPr>
              <a:t>Couplers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0.2. COUPLERS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  <a:hlinkClick r:id="rId4"/>
              </a:rPr>
              <a:t>https://github.com/cccanvas-upv/pic-upv-lab0.git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020_COUPLERS_Student.ipynb </a:t>
            </a:r>
          </a:p>
          <a:p>
            <a:pPr algn="just"/>
            <a:endParaRPr lang="en-US" b="1" i="1" dirty="0"/>
          </a:p>
          <a:p>
            <a:pPr algn="just"/>
            <a:r>
              <a:rPr lang="en-US" b="1" i="1" dirty="0"/>
              <a:t>Cross-Sections </a:t>
            </a:r>
            <a:r>
              <a:rPr lang="en-US" i="1" dirty="0"/>
              <a:t>to be studied:</a:t>
            </a:r>
            <a:endParaRPr lang="en-US" b="1" i="1" dirty="0"/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1241591" y="3685362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95778" y="4331380"/>
            <a:ext cx="67949" cy="610424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229760" y="4389164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48179" y="4155787"/>
            <a:ext cx="914400" cy="89266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073955" y="3856694"/>
            <a:ext cx="73342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lang="es-ES"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3523559" y="4331380"/>
            <a:ext cx="9849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4421819" y="5309818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239000" y="3685362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7663179" y="4163346"/>
            <a:ext cx="3165333" cy="48374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10954" y="3926878"/>
            <a:ext cx="73342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lang="es-ES"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7663179" y="4325314"/>
            <a:ext cx="3165333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lang="es-ES" sz="1600" b="1" spc="-10" dirty="0">
                <a:latin typeface="Calibri"/>
                <a:cs typeface="Calibri"/>
              </a:rPr>
              <a:t>MMI </a:t>
            </a:r>
            <a:r>
              <a:rPr lang="es-ES" sz="1600" b="1" spc="-10" dirty="0" err="1">
                <a:latin typeface="Calibri"/>
                <a:cs typeface="Calibri"/>
              </a:rPr>
              <a:t>Body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7284458" y="5303772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7377675" y="5580458"/>
            <a:ext cx="3954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Multimode Interference (MMI) </a:t>
            </a:r>
            <a:r>
              <a:rPr lang="en-US" dirty="0"/>
              <a:t>coupler</a:t>
            </a:r>
            <a:r>
              <a:rPr lang="en-US" b="1" dirty="0"/>
              <a:t> </a:t>
            </a:r>
            <a:endParaRPr lang="en-US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1168826" y="5579058"/>
            <a:ext cx="27431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Directional </a:t>
            </a:r>
            <a:r>
              <a:rPr lang="en-US" dirty="0"/>
              <a:t>coupler (DC)</a:t>
            </a:r>
          </a:p>
        </p:txBody>
      </p:sp>
      <p:sp>
        <p:nvSpPr>
          <p:cNvPr id="7" name="object 73">
            <a:extLst>
              <a:ext uri="{FF2B5EF4-FFF2-40B4-BE49-F238E27FC236}">
                <a16:creationId xmlns:a16="http://schemas.microsoft.com/office/drawing/2014/main" id="{9404A65A-9F07-371B-17B4-56EE1381567B}"/>
              </a:ext>
            </a:extLst>
          </p:cNvPr>
          <p:cNvSpPr txBox="1"/>
          <p:nvPr/>
        </p:nvSpPr>
        <p:spPr>
          <a:xfrm>
            <a:off x="1948179" y="4331380"/>
            <a:ext cx="9849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9" name="object 64">
            <a:extLst>
              <a:ext uri="{FF2B5EF4-FFF2-40B4-BE49-F238E27FC236}">
                <a16:creationId xmlns:a16="http://schemas.microsoft.com/office/drawing/2014/main" id="{B06C28EB-4BF4-A40B-513B-ACC7E468CDC3}"/>
              </a:ext>
            </a:extLst>
          </p:cNvPr>
          <p:cNvSpPr/>
          <p:nvPr/>
        </p:nvSpPr>
        <p:spPr>
          <a:xfrm flipV="1">
            <a:off x="2911079" y="5067632"/>
            <a:ext cx="590401" cy="45719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63">
            <a:extLst>
              <a:ext uri="{FF2B5EF4-FFF2-40B4-BE49-F238E27FC236}">
                <a16:creationId xmlns:a16="http://schemas.microsoft.com/office/drawing/2014/main" id="{4601CBDA-CF6C-DA98-1398-C31497498862}"/>
              </a:ext>
            </a:extLst>
          </p:cNvPr>
          <p:cNvSpPr txBox="1"/>
          <p:nvPr/>
        </p:nvSpPr>
        <p:spPr>
          <a:xfrm>
            <a:off x="2939643" y="5090491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lang="es-ES" sz="1400" dirty="0">
                <a:latin typeface="Calibri"/>
                <a:cs typeface="Calibri"/>
              </a:rPr>
              <a:t>g</a:t>
            </a:r>
            <a:endParaRPr sz="1400" dirty="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</a:t>
            </a:r>
            <a:r>
              <a:rPr lang="es-ES" sz="1400" spc="-10" dirty="0">
                <a:latin typeface="Calibri"/>
                <a:cs typeface="Calibri"/>
              </a:rPr>
              <a:t>gap</a:t>
            </a:r>
            <a:r>
              <a:rPr sz="1400" dirty="0">
                <a:latin typeface="Calibri"/>
                <a:cs typeface="Calibri"/>
              </a:rPr>
              <a:t>)</a:t>
            </a:r>
          </a:p>
        </p:txBody>
      </p:sp>
      <p:sp>
        <p:nvSpPr>
          <p:cNvPr id="11" name="object 62">
            <a:extLst>
              <a:ext uri="{FF2B5EF4-FFF2-40B4-BE49-F238E27FC236}">
                <a16:creationId xmlns:a16="http://schemas.microsoft.com/office/drawing/2014/main" id="{F1DAA8E2-74AD-BD39-C248-2324458F6D54}"/>
              </a:ext>
            </a:extLst>
          </p:cNvPr>
          <p:cNvSpPr/>
          <p:nvPr/>
        </p:nvSpPr>
        <p:spPr>
          <a:xfrm>
            <a:off x="7448782" y="4331380"/>
            <a:ext cx="67949" cy="610424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63">
            <a:extLst>
              <a:ext uri="{FF2B5EF4-FFF2-40B4-BE49-F238E27FC236}">
                <a16:creationId xmlns:a16="http://schemas.microsoft.com/office/drawing/2014/main" id="{FCE9BE8C-E2F4-7CBE-236B-A2E5451F5C01}"/>
              </a:ext>
            </a:extLst>
          </p:cNvPr>
          <p:cNvSpPr txBox="1"/>
          <p:nvPr/>
        </p:nvSpPr>
        <p:spPr>
          <a:xfrm>
            <a:off x="6882764" y="4389164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60234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Directional coupler cross-section in </a:t>
            </a:r>
            <a:r>
              <a:rPr lang="en-US" sz="2500" dirty="0" err="1"/>
              <a:t>GDSFactory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0.2. COUPLERS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Marcador de texto 2">
                <a:extLst>
                  <a:ext uri="{FF2B5EF4-FFF2-40B4-BE49-F238E27FC236}">
                    <a16:creationId xmlns:a16="http://schemas.microsoft.com/office/drawing/2014/main" id="{AA9E72FF-B948-6B7A-8909-97C6BE95D6F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8012" y="1295400"/>
                <a:ext cx="11048999" cy="4958137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0">
                  <a:defRPr>
                    <a:latin typeface="+mn-lt"/>
                    <a:ea typeface="+mn-ea"/>
                    <a:cs typeface="+mn-cs"/>
                  </a:defRPr>
                </a:lvl1pPr>
                <a:lvl2pPr marL="457200">
                  <a:defRPr>
                    <a:latin typeface="+mn-lt"/>
                    <a:ea typeface="+mn-ea"/>
                    <a:cs typeface="+mn-cs"/>
                  </a:defRPr>
                </a:lvl2pPr>
                <a:lvl3pPr marL="914400">
                  <a:defRPr>
                    <a:latin typeface="+mn-lt"/>
                    <a:ea typeface="+mn-ea"/>
                    <a:cs typeface="+mn-cs"/>
                  </a:defRPr>
                </a:lvl3pPr>
                <a:lvl4pPr marL="1371600">
                  <a:defRPr>
                    <a:latin typeface="+mn-lt"/>
                    <a:ea typeface="+mn-ea"/>
                    <a:cs typeface="+mn-cs"/>
                  </a:defRPr>
                </a:lvl4pPr>
                <a:lvl5pPr marL="1828800">
                  <a:defRPr>
                    <a:latin typeface="+mn-lt"/>
                    <a:ea typeface="+mn-ea"/>
                    <a:cs typeface="+mn-cs"/>
                  </a:defRPr>
                </a:lvl5pPr>
                <a:lvl6pPr marL="2286000">
                  <a:defRPr>
                    <a:latin typeface="+mn-lt"/>
                    <a:ea typeface="+mn-ea"/>
                    <a:cs typeface="+mn-cs"/>
                  </a:defRPr>
                </a:lvl6pPr>
                <a:lvl7pPr marL="2743200">
                  <a:defRPr>
                    <a:latin typeface="+mn-lt"/>
                    <a:ea typeface="+mn-ea"/>
                    <a:cs typeface="+mn-cs"/>
                  </a:defRPr>
                </a:lvl7pPr>
                <a:lvl8pPr marL="3200400">
                  <a:defRPr>
                    <a:latin typeface="+mn-lt"/>
                    <a:ea typeface="+mn-ea"/>
                    <a:cs typeface="+mn-cs"/>
                  </a:defRPr>
                </a:lvl8pPr>
                <a:lvl9pPr marL="3657600">
                  <a:defRPr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000" b="1" dirty="0"/>
                  <a:t>INSTRUCTOR:</a:t>
                </a: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Present Python and </a:t>
                </a:r>
                <a:r>
                  <a:rPr lang="en-US" sz="2000" dirty="0" err="1"/>
                  <a:t>GDSFactory</a:t>
                </a:r>
                <a:r>
                  <a:rPr lang="en-US" sz="2000" dirty="0"/>
                  <a:t> implementation of DC cross-section</a:t>
                </a: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Describe how to obtain the beating length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20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sz="2000" dirty="0"/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Describe the outputs.</a:t>
                </a:r>
              </a:p>
              <a:p>
                <a:pPr marL="0" indent="0" algn="just">
                  <a:buNone/>
                </a:pPr>
                <a:r>
                  <a:rPr lang="en-US" sz="2000" b="1" dirty="0"/>
                  <a:t>ALL EXAMPLE #1: </a:t>
                </a:r>
                <a:r>
                  <a:rPr lang="en-US" sz="2000" dirty="0"/>
                  <a:t>waveguide width 1.2 µm, gap between waveguides 0.6 µm, deep </a:t>
                </a:r>
                <a:r>
                  <a:rPr lang="en-US" sz="2000" dirty="0" err="1"/>
                  <a:t>wvg</a:t>
                </a:r>
                <a:r>
                  <a:rPr lang="en-US" sz="2000" dirty="0"/>
                  <a:t>, wavelength start and end same 1.55 µm </a:t>
                </a:r>
                <a:r>
                  <a:rPr lang="en-US" sz="2000" dirty="0">
                    <a:sym typeface="Wingdings" pitchFamily="2" charset="2"/>
                  </a:rPr>
                  <a:t> all ”Run”</a:t>
                </a:r>
                <a:endParaRPr lang="en-US" sz="2000" dirty="0"/>
              </a:p>
              <a:p>
                <a:pPr marL="0" indent="0" algn="just">
                  <a:buNone/>
                </a:pPr>
                <a:r>
                  <a:rPr lang="en-US" sz="2000" b="1" dirty="0"/>
                  <a:t>ALL: </a:t>
                </a:r>
                <a:r>
                  <a:rPr lang="en-US" sz="2000" dirty="0"/>
                  <a:t>Follow</a:t>
                </a:r>
                <a:r>
                  <a:rPr lang="en-US" sz="2000" b="1" dirty="0"/>
                  <a:t> </a:t>
                </a:r>
                <a:r>
                  <a:rPr lang="en-US" sz="2000" dirty="0"/>
                  <a:t>instructor, that will show how to 1) plot mode, 2) explore the results (neff …)</a:t>
                </a:r>
              </a:p>
              <a:p>
                <a:pPr algn="just"/>
                <a:endParaRPr lang="en-US" sz="2000" b="1" i="1" dirty="0"/>
              </a:p>
              <a:p>
                <a:pPr algn="just"/>
                <a:endParaRPr lang="en-US" sz="2000" kern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4" name="Marcador de texto 2">
                <a:extLst>
                  <a:ext uri="{FF2B5EF4-FFF2-40B4-BE49-F238E27FC236}">
                    <a16:creationId xmlns:a16="http://schemas.microsoft.com/office/drawing/2014/main" id="{AA9E72FF-B948-6B7A-8909-97C6BE95D6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012" y="1295400"/>
                <a:ext cx="11048999" cy="4958137"/>
              </a:xfrm>
              <a:prstGeom prst="rect">
                <a:avLst/>
              </a:prstGeom>
              <a:blipFill>
                <a:blip r:embed="rId5"/>
                <a:stretch>
                  <a:fillRect l="-607" t="-738" r="-552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uadroTexto 1">
            <a:extLst>
              <a:ext uri="{FF2B5EF4-FFF2-40B4-BE49-F238E27FC236}">
                <a16:creationId xmlns:a16="http://schemas.microsoft.com/office/drawing/2014/main" id="{D0F8CF3B-B920-DBFC-F825-0C87B51EADA7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Document all your results (neff, plot fields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of different modes,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comparison between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different polarizations…)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Multimode Interference (MMI) Coupler cross-section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0.2. COUPLERS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Marcador de texto 2">
                <a:extLst>
                  <a:ext uri="{FF2B5EF4-FFF2-40B4-BE49-F238E27FC236}">
                    <a16:creationId xmlns:a16="http://schemas.microsoft.com/office/drawing/2014/main" id="{D838A93A-BFC8-0124-93CE-FDC193435A0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8012" y="1295400"/>
                <a:ext cx="11048999" cy="4958137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0">
                  <a:defRPr>
                    <a:latin typeface="+mn-lt"/>
                    <a:ea typeface="+mn-ea"/>
                    <a:cs typeface="+mn-cs"/>
                  </a:defRPr>
                </a:lvl1pPr>
                <a:lvl2pPr marL="457200">
                  <a:defRPr>
                    <a:latin typeface="+mn-lt"/>
                    <a:ea typeface="+mn-ea"/>
                    <a:cs typeface="+mn-cs"/>
                  </a:defRPr>
                </a:lvl2pPr>
                <a:lvl3pPr marL="914400">
                  <a:defRPr>
                    <a:latin typeface="+mn-lt"/>
                    <a:ea typeface="+mn-ea"/>
                    <a:cs typeface="+mn-cs"/>
                  </a:defRPr>
                </a:lvl3pPr>
                <a:lvl4pPr marL="1371600">
                  <a:defRPr>
                    <a:latin typeface="+mn-lt"/>
                    <a:ea typeface="+mn-ea"/>
                    <a:cs typeface="+mn-cs"/>
                  </a:defRPr>
                </a:lvl4pPr>
                <a:lvl5pPr marL="1828800">
                  <a:defRPr>
                    <a:latin typeface="+mn-lt"/>
                    <a:ea typeface="+mn-ea"/>
                    <a:cs typeface="+mn-cs"/>
                  </a:defRPr>
                </a:lvl5pPr>
                <a:lvl6pPr marL="2286000">
                  <a:defRPr>
                    <a:latin typeface="+mn-lt"/>
                    <a:ea typeface="+mn-ea"/>
                    <a:cs typeface="+mn-cs"/>
                  </a:defRPr>
                </a:lvl6pPr>
                <a:lvl7pPr marL="2743200">
                  <a:defRPr>
                    <a:latin typeface="+mn-lt"/>
                    <a:ea typeface="+mn-ea"/>
                    <a:cs typeface="+mn-cs"/>
                  </a:defRPr>
                </a:lvl7pPr>
                <a:lvl8pPr marL="3200400">
                  <a:defRPr>
                    <a:latin typeface="+mn-lt"/>
                    <a:ea typeface="+mn-ea"/>
                    <a:cs typeface="+mn-cs"/>
                  </a:defRPr>
                </a:lvl8pPr>
                <a:lvl9pPr marL="3657600">
                  <a:defRPr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000" b="1" dirty="0"/>
                  <a:t>INSTRUCTOR:</a:t>
                </a: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Present Python and </a:t>
                </a:r>
                <a:r>
                  <a:rPr lang="en-US" sz="2000" dirty="0" err="1"/>
                  <a:t>GDSFactory</a:t>
                </a:r>
                <a:r>
                  <a:rPr lang="en-US" sz="2000" dirty="0"/>
                  <a:t> implementation of DC cross-section</a:t>
                </a: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Describe how to obtain the beating length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20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sz="2000" dirty="0"/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Describe the outputs.</a:t>
                </a:r>
              </a:p>
              <a:p>
                <a:pPr marL="0" indent="0" algn="just">
                  <a:buNone/>
                </a:pPr>
                <a:r>
                  <a:rPr lang="en-US" sz="2000" b="1" dirty="0"/>
                  <a:t>ALL EXAMPLE #2: </a:t>
                </a:r>
                <a:r>
                  <a:rPr lang="en-US" sz="2000" dirty="0"/>
                  <a:t>waveguide width 12 µm, gap between waveguides 0.6 µm, deep </a:t>
                </a:r>
                <a:r>
                  <a:rPr lang="en-US" sz="2000" dirty="0" err="1"/>
                  <a:t>wvg</a:t>
                </a:r>
                <a:r>
                  <a:rPr lang="en-US" sz="2000" dirty="0"/>
                  <a:t>, wavelength start and end same 1.55 µm </a:t>
                </a:r>
                <a:r>
                  <a:rPr lang="en-US" sz="2000" dirty="0">
                    <a:sym typeface="Wingdings" pitchFamily="2" charset="2"/>
                  </a:rPr>
                  <a:t> all ”Run”</a:t>
                </a:r>
                <a:endParaRPr lang="en-US" sz="2000" dirty="0"/>
              </a:p>
              <a:p>
                <a:pPr marL="0" indent="0" algn="just">
                  <a:buNone/>
                </a:pPr>
                <a:r>
                  <a:rPr lang="en-US" sz="2000" b="1" dirty="0"/>
                  <a:t>ALL: </a:t>
                </a:r>
                <a:r>
                  <a:rPr lang="en-US" sz="2000" dirty="0"/>
                  <a:t>Follow</a:t>
                </a:r>
                <a:r>
                  <a:rPr lang="en-US" sz="2000" b="1" dirty="0"/>
                  <a:t> </a:t>
                </a:r>
                <a:r>
                  <a:rPr lang="en-US" sz="2000" dirty="0"/>
                  <a:t>instructor, that will show how to 1) plot mode, 2) explore the results (neff …)</a:t>
                </a:r>
              </a:p>
              <a:p>
                <a:pPr algn="just"/>
                <a:endParaRPr lang="en-US" sz="2000" b="1" i="1" u="sng" dirty="0"/>
              </a:p>
              <a:p>
                <a:pPr algn="just"/>
                <a:endParaRPr lang="en-US" sz="2000" kern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4" name="Marcador de texto 2">
                <a:extLst>
                  <a:ext uri="{FF2B5EF4-FFF2-40B4-BE49-F238E27FC236}">
                    <a16:creationId xmlns:a16="http://schemas.microsoft.com/office/drawing/2014/main" id="{D838A93A-BFC8-0124-93CE-FDC193435A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012" y="1295400"/>
                <a:ext cx="11048999" cy="4958137"/>
              </a:xfrm>
              <a:prstGeom prst="rect">
                <a:avLst/>
              </a:prstGeom>
              <a:blipFill>
                <a:blip r:embed="rId5"/>
                <a:stretch>
                  <a:fillRect l="-607" t="-738" r="-552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Document all your results (neff, plot fields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of different modes,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comparison between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different polarizations…)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0438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099CE-A83E-4D36-3379-1B1D44945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912173D2-8888-9B94-0CD9-EC5F166595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Multimode Interference (MMI) Coupler cross-section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74C62BD7-4E6D-0E8F-1BF1-FCAFAC9F83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BF169CE-40B3-D116-0157-BDD5FDF7D88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B33E3E8-6A0F-8FC3-C2CE-318516DD8415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0.2. COUPLERS</a:t>
            </a:r>
            <a:endParaRPr lang="es-ES" spc="-5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B20D7D-A5F4-5E2D-CBE4-B34095DBFE7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200" y="1066800"/>
            <a:ext cx="7671831" cy="4480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44941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754</TotalTime>
  <Words>420</Words>
  <Application>Microsoft Office PowerPoint</Application>
  <PresentationFormat>Widescreen</PresentationFormat>
  <Paragraphs>67</Paragraphs>
  <Slides>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Aptos</vt:lpstr>
      <vt:lpstr>Arial</vt:lpstr>
      <vt:lpstr>Calibri</vt:lpstr>
      <vt:lpstr>Cambria Math</vt:lpstr>
      <vt:lpstr>Lucida Sans</vt:lpstr>
      <vt:lpstr>Times New Roman</vt:lpstr>
      <vt:lpstr>Wingdings</vt:lpstr>
      <vt:lpstr>Office Theme</vt:lpstr>
      <vt:lpstr>PowerPoint Presentation</vt:lpstr>
      <vt:lpstr>Instructions General</vt:lpstr>
      <vt:lpstr>Learning outcome #1 – Directional coupler cross-section in GDSFactory </vt:lpstr>
      <vt:lpstr>Learning outcome #2 – Multimode Interference (MMI) Coupler cross-section</vt:lpstr>
      <vt:lpstr>Learning outcome #2 – Multimode Interference (MMI) Coupler cross-section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Nicolás Ospina Mendivelso</cp:lastModifiedBy>
  <cp:revision>10</cp:revision>
  <dcterms:created xsi:type="dcterms:W3CDTF">2025-01-27T02:46:57Z</dcterms:created>
  <dcterms:modified xsi:type="dcterms:W3CDTF">2026-03-02T05:16:50Z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