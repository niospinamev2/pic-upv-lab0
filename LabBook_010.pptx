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8"/>
  </p:notesMasterIdLst>
  <p:handoutMasterIdLst>
    <p:handoutMasterId r:id="rId9"/>
  </p:handoutMasterIdLst>
  <p:sldIdLst>
    <p:sldId id="256" r:id="rId2"/>
    <p:sldId id="289" r:id="rId3"/>
    <p:sldId id="290" r:id="rId4"/>
    <p:sldId id="291" r:id="rId5"/>
    <p:sldId id="292" r:id="rId6"/>
    <p:sldId id="288" r:id="rId7"/>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3102A6-F98F-48C7-9AF4-68940EB5B3D9}" v="4" dt="2026-02-03T12:19:17.949"/>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538" autoAdjust="0"/>
    <p:restoredTop sz="86275" autoAdjust="0"/>
  </p:normalViewPr>
  <p:slideViewPr>
    <p:cSldViewPr>
      <p:cViewPr>
        <p:scale>
          <a:sx n="75" d="100"/>
          <a:sy n="75" d="100"/>
        </p:scale>
        <p:origin x="1411" y="-101"/>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handoutMaster" Target="handoutMasters/handout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E6287060-0277-4BCC-9556-78F4A9113EC4}"/>
    <pc:docChg chg="delSld modSld">
      <pc:chgData name="Christian Camilo Cano Vasquez" userId="8c73a2a4-758b-4e34-81ed-39462e48bd92" providerId="ADAL" clId="{E6287060-0277-4BCC-9556-78F4A9113EC4}" dt="2026-02-03T12:19:54.710" v="164" actId="113"/>
      <pc:docMkLst>
        <pc:docMk/>
      </pc:docMkLst>
      <pc:sldChg chg="modSp mod">
        <pc:chgData name="Christian Camilo Cano Vasquez" userId="8c73a2a4-758b-4e34-81ed-39462e48bd92" providerId="ADAL" clId="{E6287060-0277-4BCC-9556-78F4A9113EC4}" dt="2026-02-03T12:19:54.710" v="164" actId="113"/>
        <pc:sldMkLst>
          <pc:docMk/>
          <pc:sldMk cId="560234623" sldId="289"/>
        </pc:sldMkLst>
        <pc:spChg chg="mod">
          <ac:chgData name="Christian Camilo Cano Vasquez" userId="8c73a2a4-758b-4e34-81ed-39462e48bd92" providerId="ADAL" clId="{E6287060-0277-4BCC-9556-78F4A9113EC4}" dt="2026-02-03T12:19:54.710" v="164" actId="113"/>
          <ac:spMkLst>
            <pc:docMk/>
            <pc:sldMk cId="560234623" sldId="289"/>
            <ac:spMk id="4" creationId="{9F7BC140-B3D8-C3CB-55AD-9064C7CDE9CA}"/>
          </ac:spMkLst>
        </pc:spChg>
      </pc:sldChg>
      <pc:sldChg chg="del">
        <pc:chgData name="Christian Camilo Cano Vasquez" userId="8c73a2a4-758b-4e34-81ed-39462e48bd92" providerId="ADAL" clId="{E6287060-0277-4BCC-9556-78F4A9113EC4}" dt="2026-02-03T12:15:41.104" v="0" actId="47"/>
        <pc:sldMkLst>
          <pc:docMk/>
          <pc:sldMk cId="2900117438" sldId="292"/>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Arial" panose="020B0604020202020204" pitchFamily="34" charset="0"/>
                <a:cs typeface="Arial" panose="020B0604020202020204" pitchFamily="34" charset="0"/>
              </a:rPr>
              <a:t>Comment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changes this way with wavelength, comparison between different waveguide cross-sections …)</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Arial" panose="020B0604020202020204" pitchFamily="34" charset="0"/>
                <a:cs typeface="Arial" panose="020B0604020202020204" pitchFamily="34" charset="0"/>
              </a:rPr>
              <a:t>A wavelength dependence of the effective index is observed, it's possible to see as the wavelength increases, the effective index decreases which results in reduced modal confinement and increased field penetration into the cladding region. The shallow waveguide presents higher effective indices than the deep waveguide, suggesting stronger optical confinement, especially for higher-order modes.</a:t>
            </a:r>
          </a:p>
          <a:p>
            <a:endParaRPr lang="es-ES" dirty="0"/>
          </a:p>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3451E-11CB-1D24-4604-FC707B4FA1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F3F3A22-83BD-1B10-3381-EBB3FA5BD4F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8405EE5-337D-8F97-F252-C7614AC22E47}"/>
              </a:ext>
            </a:extLst>
          </p:cNvPr>
          <p:cNvSpPr>
            <a:spLocks noGrp="1"/>
          </p:cNvSpPr>
          <p:nvPr>
            <p:ph type="body" idx="1"/>
          </p:nvPr>
        </p:nvSpPr>
        <p:spPr/>
        <p:txBody>
          <a:bodyPr/>
          <a:lstStyle/>
          <a:p>
            <a:r>
              <a:rPr lang="en-US" dirty="0"/>
              <a:t>Although the modes are commonly labeled as TE and TM, dielectric waveguides strictly support hybrid modes with non-zero longitudinal electric and magnetic field components. The TE/TM terminology therefore refers to the dominant polarization component rather than to a purely transverse electromagnetic mode.</a:t>
            </a:r>
          </a:p>
          <a:p>
            <a:endParaRPr lang="en-US" dirty="0"/>
          </a:p>
          <a:p>
            <a:r>
              <a:rPr lang="en-US" dirty="0"/>
              <a:t>A useful analogy is that of a guitar string vibrating inside a narrow box. When the string interacts with the boundaries, it must conform to the geometry of the enclosure. As a result, it cannot remain perfectly flat and develops a slight curvature in another direction. Similarly, optical confinement forces the electromagnetic field to acquire small longitudinal components.</a:t>
            </a:r>
          </a:p>
          <a:p>
            <a:endParaRPr lang="es-ES" dirty="0"/>
          </a:p>
        </p:txBody>
      </p:sp>
      <p:sp>
        <p:nvSpPr>
          <p:cNvPr id="4" name="Marcador de número de diapositiva 3">
            <a:extLst>
              <a:ext uri="{FF2B5EF4-FFF2-40B4-BE49-F238E27FC236}">
                <a16:creationId xmlns:a16="http://schemas.microsoft.com/office/drawing/2014/main" id="{C988801C-7DA9-3DC9-B32F-784560E8DC6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055213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0.1. MODESOLVER</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0.1. MODESOLVER</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0.1. MODESOLVER</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0.1. MODESOLVER</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github.com/cccanvas-upv/pic-upv-lab0.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0.1. </a:t>
            </a:r>
            <a:r>
              <a:rPr lang="es-ES" sz="3200" b="1" dirty="0" err="1">
                <a:latin typeface="Lucida Sans"/>
                <a:cs typeface="Lucida Sans"/>
              </a:rPr>
              <a:t>ModeSolver</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dirty="0"/>
              <a:t>LAB 0.1. MODESOLVER</a:t>
            </a:r>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n-US" kern="0" dirty="0">
                <a:solidFill>
                  <a:sysClr val="windowText" lastClr="000000"/>
                </a:solidFill>
                <a:sym typeface="Wingdings" pitchFamily="2" charset="2"/>
                <a:hlinkClick r:id="rId4"/>
              </a:rPr>
              <a:t>https://github.com/cccanvas-upv/pic-upv-lab0.git</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a:solidFill>
                  <a:sysClr val="windowText" lastClr="000000"/>
                </a:solidFill>
              </a:rPr>
              <a:t>010_MODESOLVER_Student.ipynb </a:t>
            </a:r>
          </a:p>
          <a:p>
            <a:pPr algn="just"/>
            <a:r>
              <a:rPr lang="en-US" b="1" kern="0" dirty="0">
                <a:solidFill>
                  <a:sysClr val="windowText" lastClr="000000"/>
                </a:solidFill>
              </a:rPr>
              <a:t>INSTRUCTIONS</a:t>
            </a:r>
          </a:p>
          <a:p>
            <a:pPr marL="342900" indent="-342900" algn="just">
              <a:buFont typeface="Arial" panose="020B0604020202020204" pitchFamily="34" charset="0"/>
              <a:buChar char="•"/>
            </a:pPr>
            <a:r>
              <a:rPr lang="en-US" dirty="0"/>
              <a:t>We are going to work with different </a:t>
            </a:r>
            <a:r>
              <a:rPr lang="en-US" b="1" i="1" dirty="0"/>
              <a:t>Cross-Sections. </a:t>
            </a:r>
            <a:r>
              <a:rPr lang="en-US" dirty="0"/>
              <a:t>In general, we will need: </a:t>
            </a:r>
            <a:r>
              <a:rPr lang="en-US" b="1" i="1" dirty="0"/>
              <a:t>Materials</a:t>
            </a:r>
            <a:r>
              <a:rPr lang="en-US" dirty="0"/>
              <a:t> definitions and the </a:t>
            </a:r>
            <a:r>
              <a:rPr lang="en-US" b="1" dirty="0"/>
              <a:t>Geometrical</a:t>
            </a:r>
            <a:r>
              <a:rPr lang="en-US" dirty="0"/>
              <a:t> parameters of each Cross-section</a:t>
            </a:r>
            <a:r>
              <a:rPr lang="en-US" b="1" i="1" dirty="0"/>
              <a:t>.</a:t>
            </a:r>
          </a:p>
          <a:p>
            <a:pPr algn="just"/>
            <a:endParaRPr lang="en-US" sz="2000" b="1" i="1" dirty="0"/>
          </a:p>
          <a:p>
            <a:pPr algn="just"/>
            <a:endParaRPr lang="en-US" sz="2000" kern="0" dirty="0">
              <a:solidFill>
                <a:sysClr val="windowText" lastClr="000000"/>
              </a:solidFill>
            </a:endParaRPr>
          </a:p>
        </p:txBody>
      </p:sp>
      <p:sp>
        <p:nvSpPr>
          <p:cNvPr id="5" name="object 7">
            <a:extLst>
              <a:ext uri="{FF2B5EF4-FFF2-40B4-BE49-F238E27FC236}">
                <a16:creationId xmlns:a16="http://schemas.microsoft.com/office/drawing/2014/main" id="{B99085AB-5BCA-5571-FA65-E3617707DBFA}"/>
              </a:ext>
            </a:extLst>
          </p:cNvPr>
          <p:cNvSpPr/>
          <p:nvPr/>
        </p:nvSpPr>
        <p:spPr>
          <a:xfrm>
            <a:off x="1245115" y="4499713"/>
            <a:ext cx="544195" cy="344805"/>
          </a:xfrm>
          <a:custGeom>
            <a:avLst/>
            <a:gdLst/>
            <a:ahLst/>
            <a:cxnLst/>
            <a:rect l="l" t="t" r="r" b="b"/>
            <a:pathLst>
              <a:path w="544195" h="344805">
                <a:moveTo>
                  <a:pt x="0" y="344424"/>
                </a:moveTo>
                <a:lnTo>
                  <a:pt x="544067" y="344424"/>
                </a:lnTo>
                <a:lnTo>
                  <a:pt x="544067" y="0"/>
                </a:lnTo>
                <a:lnTo>
                  <a:pt x="0" y="0"/>
                </a:lnTo>
                <a:lnTo>
                  <a:pt x="0" y="344424"/>
                </a:lnTo>
                <a:close/>
              </a:path>
            </a:pathLst>
          </a:custGeom>
          <a:solidFill>
            <a:srgbClr val="CCB657"/>
          </a:solidFill>
        </p:spPr>
        <p:txBody>
          <a:bodyPr wrap="square" lIns="0" tIns="0" rIns="0" bIns="0" rtlCol="0"/>
          <a:lstStyle/>
          <a:p>
            <a:endParaRPr/>
          </a:p>
        </p:txBody>
      </p:sp>
      <p:sp>
        <p:nvSpPr>
          <p:cNvPr id="6" name="object 8">
            <a:extLst>
              <a:ext uri="{FF2B5EF4-FFF2-40B4-BE49-F238E27FC236}">
                <a16:creationId xmlns:a16="http://schemas.microsoft.com/office/drawing/2014/main" id="{17590B25-6ABE-9620-2C63-B4856DDBCE5D}"/>
              </a:ext>
            </a:extLst>
          </p:cNvPr>
          <p:cNvSpPr/>
          <p:nvPr/>
        </p:nvSpPr>
        <p:spPr>
          <a:xfrm>
            <a:off x="1245115" y="4499713"/>
            <a:ext cx="544195" cy="344805"/>
          </a:xfrm>
          <a:custGeom>
            <a:avLst/>
            <a:gdLst/>
            <a:ahLst/>
            <a:cxnLst/>
            <a:rect l="l" t="t" r="r" b="b"/>
            <a:pathLst>
              <a:path w="544195" h="344805">
                <a:moveTo>
                  <a:pt x="0" y="344424"/>
                </a:moveTo>
                <a:lnTo>
                  <a:pt x="544067" y="344424"/>
                </a:lnTo>
                <a:lnTo>
                  <a:pt x="544067" y="0"/>
                </a:lnTo>
                <a:lnTo>
                  <a:pt x="0" y="0"/>
                </a:lnTo>
                <a:lnTo>
                  <a:pt x="0" y="344424"/>
                </a:lnTo>
                <a:close/>
              </a:path>
            </a:pathLst>
          </a:custGeom>
          <a:ln w="12191">
            <a:solidFill>
              <a:srgbClr val="6F6021"/>
            </a:solidFill>
          </a:ln>
        </p:spPr>
        <p:txBody>
          <a:bodyPr wrap="square" lIns="0" tIns="0" rIns="0" bIns="0" rtlCol="0"/>
          <a:lstStyle/>
          <a:p>
            <a:endParaRPr/>
          </a:p>
        </p:txBody>
      </p:sp>
      <p:sp>
        <p:nvSpPr>
          <p:cNvPr id="80" name="object 9">
            <a:extLst>
              <a:ext uri="{FF2B5EF4-FFF2-40B4-BE49-F238E27FC236}">
                <a16:creationId xmlns:a16="http://schemas.microsoft.com/office/drawing/2014/main" id="{854026DA-C7BC-391A-30F9-BF8D7187210E}"/>
              </a:ext>
            </a:extLst>
          </p:cNvPr>
          <p:cNvSpPr/>
          <p:nvPr/>
        </p:nvSpPr>
        <p:spPr>
          <a:xfrm>
            <a:off x="1245115" y="3905354"/>
            <a:ext cx="1323340" cy="594360"/>
          </a:xfrm>
          <a:custGeom>
            <a:avLst/>
            <a:gdLst/>
            <a:ahLst/>
            <a:cxnLst/>
            <a:rect l="l" t="t" r="r" b="b"/>
            <a:pathLst>
              <a:path w="1323340" h="594360">
                <a:moveTo>
                  <a:pt x="1322832" y="0"/>
                </a:moveTo>
                <a:lnTo>
                  <a:pt x="769493" y="0"/>
                </a:lnTo>
                <a:lnTo>
                  <a:pt x="0" y="594359"/>
                </a:lnTo>
                <a:lnTo>
                  <a:pt x="553338" y="594359"/>
                </a:lnTo>
                <a:lnTo>
                  <a:pt x="1322832" y="0"/>
                </a:lnTo>
                <a:close/>
              </a:path>
            </a:pathLst>
          </a:custGeom>
          <a:solidFill>
            <a:srgbClr val="CCB657"/>
          </a:solidFill>
        </p:spPr>
        <p:txBody>
          <a:bodyPr wrap="square" lIns="0" tIns="0" rIns="0" bIns="0" rtlCol="0"/>
          <a:lstStyle/>
          <a:p>
            <a:endParaRPr/>
          </a:p>
        </p:txBody>
      </p:sp>
      <p:sp>
        <p:nvSpPr>
          <p:cNvPr id="85" name="object 10">
            <a:extLst>
              <a:ext uri="{FF2B5EF4-FFF2-40B4-BE49-F238E27FC236}">
                <a16:creationId xmlns:a16="http://schemas.microsoft.com/office/drawing/2014/main" id="{68F18FA1-D512-5553-8E16-C81F17B1FD4E}"/>
              </a:ext>
            </a:extLst>
          </p:cNvPr>
          <p:cNvSpPr/>
          <p:nvPr/>
        </p:nvSpPr>
        <p:spPr>
          <a:xfrm>
            <a:off x="1245115" y="3905354"/>
            <a:ext cx="1323340" cy="594360"/>
          </a:xfrm>
          <a:custGeom>
            <a:avLst/>
            <a:gdLst/>
            <a:ahLst/>
            <a:cxnLst/>
            <a:rect l="l" t="t" r="r" b="b"/>
            <a:pathLst>
              <a:path w="1323340" h="594360">
                <a:moveTo>
                  <a:pt x="0" y="594359"/>
                </a:moveTo>
                <a:lnTo>
                  <a:pt x="769493" y="0"/>
                </a:lnTo>
                <a:lnTo>
                  <a:pt x="1322832" y="0"/>
                </a:lnTo>
                <a:lnTo>
                  <a:pt x="553338" y="594359"/>
                </a:lnTo>
                <a:lnTo>
                  <a:pt x="0" y="594359"/>
                </a:lnTo>
                <a:close/>
              </a:path>
            </a:pathLst>
          </a:custGeom>
          <a:ln w="12192">
            <a:solidFill>
              <a:srgbClr val="6F6021"/>
            </a:solidFill>
          </a:ln>
        </p:spPr>
        <p:txBody>
          <a:bodyPr wrap="square" lIns="0" tIns="0" rIns="0" bIns="0" rtlCol="0"/>
          <a:lstStyle/>
          <a:p>
            <a:endParaRPr/>
          </a:p>
        </p:txBody>
      </p:sp>
      <p:sp>
        <p:nvSpPr>
          <p:cNvPr id="86" name="object 11">
            <a:extLst>
              <a:ext uri="{FF2B5EF4-FFF2-40B4-BE49-F238E27FC236}">
                <a16:creationId xmlns:a16="http://schemas.microsoft.com/office/drawing/2014/main" id="{B6F403B3-198D-766C-7FF5-06096D396DAF}"/>
              </a:ext>
            </a:extLst>
          </p:cNvPr>
          <p:cNvSpPr/>
          <p:nvPr/>
        </p:nvSpPr>
        <p:spPr>
          <a:xfrm>
            <a:off x="1789183" y="3905354"/>
            <a:ext cx="779145" cy="939165"/>
          </a:xfrm>
          <a:custGeom>
            <a:avLst/>
            <a:gdLst/>
            <a:ahLst/>
            <a:cxnLst/>
            <a:rect l="l" t="t" r="r" b="b"/>
            <a:pathLst>
              <a:path w="779145" h="939164">
                <a:moveTo>
                  <a:pt x="778763" y="0"/>
                </a:moveTo>
                <a:lnTo>
                  <a:pt x="0" y="593343"/>
                </a:lnTo>
                <a:lnTo>
                  <a:pt x="0" y="938783"/>
                </a:lnTo>
                <a:lnTo>
                  <a:pt x="778763" y="345439"/>
                </a:lnTo>
                <a:lnTo>
                  <a:pt x="778763" y="0"/>
                </a:lnTo>
                <a:close/>
              </a:path>
            </a:pathLst>
          </a:custGeom>
          <a:solidFill>
            <a:srgbClr val="CCB657"/>
          </a:solidFill>
        </p:spPr>
        <p:txBody>
          <a:bodyPr wrap="square" lIns="0" tIns="0" rIns="0" bIns="0" rtlCol="0"/>
          <a:lstStyle/>
          <a:p>
            <a:endParaRPr/>
          </a:p>
        </p:txBody>
      </p:sp>
      <p:sp>
        <p:nvSpPr>
          <p:cNvPr id="87" name="object 12">
            <a:extLst>
              <a:ext uri="{FF2B5EF4-FFF2-40B4-BE49-F238E27FC236}">
                <a16:creationId xmlns:a16="http://schemas.microsoft.com/office/drawing/2014/main" id="{B4F33324-81A2-6D30-47DD-7A67FD038073}"/>
              </a:ext>
            </a:extLst>
          </p:cNvPr>
          <p:cNvSpPr/>
          <p:nvPr/>
        </p:nvSpPr>
        <p:spPr>
          <a:xfrm>
            <a:off x="1789183" y="3905354"/>
            <a:ext cx="779145" cy="939165"/>
          </a:xfrm>
          <a:custGeom>
            <a:avLst/>
            <a:gdLst/>
            <a:ahLst/>
            <a:cxnLst/>
            <a:rect l="l" t="t" r="r" b="b"/>
            <a:pathLst>
              <a:path w="779145" h="939164">
                <a:moveTo>
                  <a:pt x="778763" y="0"/>
                </a:moveTo>
                <a:lnTo>
                  <a:pt x="0" y="593343"/>
                </a:lnTo>
                <a:lnTo>
                  <a:pt x="0" y="938783"/>
                </a:lnTo>
                <a:lnTo>
                  <a:pt x="778763" y="345439"/>
                </a:lnTo>
                <a:lnTo>
                  <a:pt x="778763" y="0"/>
                </a:lnTo>
                <a:close/>
              </a:path>
            </a:pathLst>
          </a:custGeom>
          <a:ln w="12192">
            <a:solidFill>
              <a:srgbClr val="6F6021"/>
            </a:solidFill>
          </a:ln>
        </p:spPr>
        <p:txBody>
          <a:bodyPr wrap="square" lIns="0" tIns="0" rIns="0" bIns="0" rtlCol="0"/>
          <a:lstStyle/>
          <a:p>
            <a:endParaRPr/>
          </a:p>
        </p:txBody>
      </p:sp>
      <p:sp>
        <p:nvSpPr>
          <p:cNvPr id="88" name="object 13">
            <a:extLst>
              <a:ext uri="{FF2B5EF4-FFF2-40B4-BE49-F238E27FC236}">
                <a16:creationId xmlns:a16="http://schemas.microsoft.com/office/drawing/2014/main" id="{E5CE242A-CD6F-B6AA-8CF8-3F65AA839201}"/>
              </a:ext>
            </a:extLst>
          </p:cNvPr>
          <p:cNvSpPr/>
          <p:nvPr/>
        </p:nvSpPr>
        <p:spPr>
          <a:xfrm>
            <a:off x="659898" y="4205582"/>
            <a:ext cx="1858010" cy="1065530"/>
          </a:xfrm>
          <a:custGeom>
            <a:avLst/>
            <a:gdLst/>
            <a:ahLst/>
            <a:cxnLst/>
            <a:rect l="l" t="t" r="r" b="b"/>
            <a:pathLst>
              <a:path w="1858009" h="1065530">
                <a:moveTo>
                  <a:pt x="0" y="1065276"/>
                </a:moveTo>
                <a:lnTo>
                  <a:pt x="1857755" y="1065276"/>
                </a:lnTo>
                <a:lnTo>
                  <a:pt x="1857755" y="0"/>
                </a:lnTo>
                <a:lnTo>
                  <a:pt x="0" y="0"/>
                </a:lnTo>
                <a:lnTo>
                  <a:pt x="0" y="1065276"/>
                </a:lnTo>
                <a:close/>
              </a:path>
            </a:pathLst>
          </a:custGeom>
          <a:solidFill>
            <a:srgbClr val="7E7E7E">
              <a:alpha val="36077"/>
            </a:srgbClr>
          </a:solidFill>
        </p:spPr>
        <p:txBody>
          <a:bodyPr wrap="square" lIns="0" tIns="0" rIns="0" bIns="0" rtlCol="0"/>
          <a:lstStyle/>
          <a:p>
            <a:endParaRPr/>
          </a:p>
        </p:txBody>
      </p:sp>
      <p:sp>
        <p:nvSpPr>
          <p:cNvPr id="89" name="object 18">
            <a:extLst>
              <a:ext uri="{FF2B5EF4-FFF2-40B4-BE49-F238E27FC236}">
                <a16:creationId xmlns:a16="http://schemas.microsoft.com/office/drawing/2014/main" id="{E00C02E3-A945-AC3C-8DDF-4BF7E88C3196}"/>
              </a:ext>
            </a:extLst>
          </p:cNvPr>
          <p:cNvSpPr/>
          <p:nvPr/>
        </p:nvSpPr>
        <p:spPr>
          <a:xfrm>
            <a:off x="458730" y="5106266"/>
            <a:ext cx="544195" cy="342900"/>
          </a:xfrm>
          <a:custGeom>
            <a:avLst/>
            <a:gdLst/>
            <a:ahLst/>
            <a:cxnLst/>
            <a:rect l="l" t="t" r="r" b="b"/>
            <a:pathLst>
              <a:path w="544195" h="342900">
                <a:moveTo>
                  <a:pt x="0" y="342900"/>
                </a:moveTo>
                <a:lnTo>
                  <a:pt x="544068" y="342900"/>
                </a:lnTo>
                <a:lnTo>
                  <a:pt x="544068" y="0"/>
                </a:lnTo>
                <a:lnTo>
                  <a:pt x="0" y="0"/>
                </a:lnTo>
                <a:lnTo>
                  <a:pt x="0" y="342900"/>
                </a:lnTo>
                <a:close/>
              </a:path>
            </a:pathLst>
          </a:custGeom>
          <a:solidFill>
            <a:srgbClr val="CCB657"/>
          </a:solidFill>
        </p:spPr>
        <p:txBody>
          <a:bodyPr wrap="square" lIns="0" tIns="0" rIns="0" bIns="0" rtlCol="0"/>
          <a:lstStyle/>
          <a:p>
            <a:endParaRPr/>
          </a:p>
        </p:txBody>
      </p:sp>
      <p:sp>
        <p:nvSpPr>
          <p:cNvPr id="90" name="object 19">
            <a:extLst>
              <a:ext uri="{FF2B5EF4-FFF2-40B4-BE49-F238E27FC236}">
                <a16:creationId xmlns:a16="http://schemas.microsoft.com/office/drawing/2014/main" id="{0ED35790-2683-BB1F-331A-34862F355D64}"/>
              </a:ext>
            </a:extLst>
          </p:cNvPr>
          <p:cNvSpPr/>
          <p:nvPr/>
        </p:nvSpPr>
        <p:spPr>
          <a:xfrm>
            <a:off x="458730" y="5106266"/>
            <a:ext cx="544195" cy="342900"/>
          </a:xfrm>
          <a:custGeom>
            <a:avLst/>
            <a:gdLst/>
            <a:ahLst/>
            <a:cxnLst/>
            <a:rect l="l" t="t" r="r" b="b"/>
            <a:pathLst>
              <a:path w="544195" h="342900">
                <a:moveTo>
                  <a:pt x="0" y="342900"/>
                </a:moveTo>
                <a:lnTo>
                  <a:pt x="544068" y="342900"/>
                </a:lnTo>
                <a:lnTo>
                  <a:pt x="544068" y="0"/>
                </a:lnTo>
                <a:lnTo>
                  <a:pt x="0" y="0"/>
                </a:lnTo>
                <a:lnTo>
                  <a:pt x="0" y="342900"/>
                </a:lnTo>
                <a:close/>
              </a:path>
            </a:pathLst>
          </a:custGeom>
          <a:ln w="12192">
            <a:solidFill>
              <a:srgbClr val="6F6021"/>
            </a:solidFill>
          </a:ln>
        </p:spPr>
        <p:txBody>
          <a:bodyPr wrap="square" lIns="0" tIns="0" rIns="0" bIns="0" rtlCol="0"/>
          <a:lstStyle/>
          <a:p>
            <a:endParaRPr/>
          </a:p>
        </p:txBody>
      </p:sp>
      <p:sp>
        <p:nvSpPr>
          <p:cNvPr id="91" name="object 20">
            <a:extLst>
              <a:ext uri="{FF2B5EF4-FFF2-40B4-BE49-F238E27FC236}">
                <a16:creationId xmlns:a16="http://schemas.microsoft.com/office/drawing/2014/main" id="{C74C0B99-9868-5B85-03B4-95E6CF78D9A3}"/>
              </a:ext>
            </a:extLst>
          </p:cNvPr>
          <p:cNvSpPr/>
          <p:nvPr/>
        </p:nvSpPr>
        <p:spPr>
          <a:xfrm>
            <a:off x="458730" y="4511906"/>
            <a:ext cx="1324610" cy="594360"/>
          </a:xfrm>
          <a:custGeom>
            <a:avLst/>
            <a:gdLst/>
            <a:ahLst/>
            <a:cxnLst/>
            <a:rect l="l" t="t" r="r" b="b"/>
            <a:pathLst>
              <a:path w="1324610" h="594360">
                <a:moveTo>
                  <a:pt x="1324356" y="0"/>
                </a:moveTo>
                <a:lnTo>
                  <a:pt x="769493" y="0"/>
                </a:lnTo>
                <a:lnTo>
                  <a:pt x="0" y="594360"/>
                </a:lnTo>
                <a:lnTo>
                  <a:pt x="554863" y="594360"/>
                </a:lnTo>
                <a:lnTo>
                  <a:pt x="1324356" y="0"/>
                </a:lnTo>
                <a:close/>
              </a:path>
            </a:pathLst>
          </a:custGeom>
          <a:solidFill>
            <a:srgbClr val="CCB657"/>
          </a:solidFill>
        </p:spPr>
        <p:txBody>
          <a:bodyPr wrap="square" lIns="0" tIns="0" rIns="0" bIns="0" rtlCol="0"/>
          <a:lstStyle/>
          <a:p>
            <a:endParaRPr/>
          </a:p>
        </p:txBody>
      </p:sp>
      <p:sp>
        <p:nvSpPr>
          <p:cNvPr id="92" name="object 21">
            <a:extLst>
              <a:ext uri="{FF2B5EF4-FFF2-40B4-BE49-F238E27FC236}">
                <a16:creationId xmlns:a16="http://schemas.microsoft.com/office/drawing/2014/main" id="{0D0A668E-1248-C952-0D69-9AC115F5AEBD}"/>
              </a:ext>
            </a:extLst>
          </p:cNvPr>
          <p:cNvSpPr/>
          <p:nvPr/>
        </p:nvSpPr>
        <p:spPr>
          <a:xfrm>
            <a:off x="458730" y="4511906"/>
            <a:ext cx="1324610" cy="594360"/>
          </a:xfrm>
          <a:custGeom>
            <a:avLst/>
            <a:gdLst/>
            <a:ahLst/>
            <a:cxnLst/>
            <a:rect l="l" t="t" r="r" b="b"/>
            <a:pathLst>
              <a:path w="1324610" h="594360">
                <a:moveTo>
                  <a:pt x="0" y="594360"/>
                </a:moveTo>
                <a:lnTo>
                  <a:pt x="769493" y="0"/>
                </a:lnTo>
                <a:lnTo>
                  <a:pt x="1324356" y="0"/>
                </a:lnTo>
                <a:lnTo>
                  <a:pt x="554863" y="594360"/>
                </a:lnTo>
                <a:lnTo>
                  <a:pt x="0" y="594360"/>
                </a:lnTo>
                <a:close/>
              </a:path>
            </a:pathLst>
          </a:custGeom>
          <a:ln w="12192">
            <a:solidFill>
              <a:srgbClr val="6F6021"/>
            </a:solidFill>
          </a:ln>
        </p:spPr>
        <p:txBody>
          <a:bodyPr wrap="square" lIns="0" tIns="0" rIns="0" bIns="0" rtlCol="0"/>
          <a:lstStyle/>
          <a:p>
            <a:endParaRPr/>
          </a:p>
        </p:txBody>
      </p:sp>
      <p:sp>
        <p:nvSpPr>
          <p:cNvPr id="93" name="object 22">
            <a:extLst>
              <a:ext uri="{FF2B5EF4-FFF2-40B4-BE49-F238E27FC236}">
                <a16:creationId xmlns:a16="http://schemas.microsoft.com/office/drawing/2014/main" id="{9D87B857-066A-6AC9-C60A-5A69ADC38AAB}"/>
              </a:ext>
            </a:extLst>
          </p:cNvPr>
          <p:cNvSpPr/>
          <p:nvPr/>
        </p:nvSpPr>
        <p:spPr>
          <a:xfrm>
            <a:off x="1002798" y="4511906"/>
            <a:ext cx="780415" cy="937260"/>
          </a:xfrm>
          <a:custGeom>
            <a:avLst/>
            <a:gdLst/>
            <a:ahLst/>
            <a:cxnLst/>
            <a:rect l="l" t="t" r="r" b="b"/>
            <a:pathLst>
              <a:path w="780414" h="937260">
                <a:moveTo>
                  <a:pt x="780288" y="0"/>
                </a:moveTo>
                <a:lnTo>
                  <a:pt x="0" y="594613"/>
                </a:lnTo>
                <a:lnTo>
                  <a:pt x="0" y="937260"/>
                </a:lnTo>
                <a:lnTo>
                  <a:pt x="780288" y="342645"/>
                </a:lnTo>
                <a:lnTo>
                  <a:pt x="780288" y="0"/>
                </a:lnTo>
                <a:close/>
              </a:path>
            </a:pathLst>
          </a:custGeom>
          <a:solidFill>
            <a:srgbClr val="CCB657"/>
          </a:solidFill>
        </p:spPr>
        <p:txBody>
          <a:bodyPr wrap="square" lIns="0" tIns="0" rIns="0" bIns="0" rtlCol="0"/>
          <a:lstStyle/>
          <a:p>
            <a:endParaRPr/>
          </a:p>
        </p:txBody>
      </p:sp>
      <p:sp>
        <p:nvSpPr>
          <p:cNvPr id="94" name="object 23">
            <a:extLst>
              <a:ext uri="{FF2B5EF4-FFF2-40B4-BE49-F238E27FC236}">
                <a16:creationId xmlns:a16="http://schemas.microsoft.com/office/drawing/2014/main" id="{218D47D4-6432-730D-48B9-7A6C6E31E473}"/>
              </a:ext>
            </a:extLst>
          </p:cNvPr>
          <p:cNvSpPr/>
          <p:nvPr/>
        </p:nvSpPr>
        <p:spPr>
          <a:xfrm>
            <a:off x="1002798" y="4511906"/>
            <a:ext cx="780415" cy="937260"/>
          </a:xfrm>
          <a:custGeom>
            <a:avLst/>
            <a:gdLst/>
            <a:ahLst/>
            <a:cxnLst/>
            <a:rect l="l" t="t" r="r" b="b"/>
            <a:pathLst>
              <a:path w="780414" h="937260">
                <a:moveTo>
                  <a:pt x="780288" y="0"/>
                </a:moveTo>
                <a:lnTo>
                  <a:pt x="0" y="594613"/>
                </a:lnTo>
                <a:lnTo>
                  <a:pt x="0" y="937260"/>
                </a:lnTo>
                <a:lnTo>
                  <a:pt x="780288" y="342645"/>
                </a:lnTo>
                <a:lnTo>
                  <a:pt x="780288" y="0"/>
                </a:lnTo>
                <a:close/>
              </a:path>
            </a:pathLst>
          </a:custGeom>
          <a:ln w="12192">
            <a:solidFill>
              <a:srgbClr val="6F6021"/>
            </a:solidFill>
          </a:ln>
        </p:spPr>
        <p:txBody>
          <a:bodyPr wrap="square" lIns="0" tIns="0" rIns="0" bIns="0" rtlCol="0"/>
          <a:lstStyle/>
          <a:p>
            <a:endParaRPr/>
          </a:p>
        </p:txBody>
      </p:sp>
      <p:sp>
        <p:nvSpPr>
          <p:cNvPr id="95" name="object 33">
            <a:extLst>
              <a:ext uri="{FF2B5EF4-FFF2-40B4-BE49-F238E27FC236}">
                <a16:creationId xmlns:a16="http://schemas.microsoft.com/office/drawing/2014/main" id="{1ADEEC13-CD1C-B10C-519D-C80EDB6B6995}"/>
              </a:ext>
            </a:extLst>
          </p:cNvPr>
          <p:cNvSpPr txBox="1"/>
          <p:nvPr/>
        </p:nvSpPr>
        <p:spPr>
          <a:xfrm>
            <a:off x="1438790" y="5254855"/>
            <a:ext cx="1066165" cy="208279"/>
          </a:xfrm>
          <a:prstGeom prst="rect">
            <a:avLst/>
          </a:prstGeom>
        </p:spPr>
        <p:txBody>
          <a:bodyPr vert="horz" wrap="square" lIns="0" tIns="12700" rIns="0" bIns="0" rtlCol="0">
            <a:spAutoFit/>
          </a:bodyPr>
          <a:lstStyle/>
          <a:p>
            <a:pPr marL="12700">
              <a:lnSpc>
                <a:spcPct val="100000"/>
              </a:lnSpc>
              <a:spcBef>
                <a:spcPts val="100"/>
              </a:spcBef>
            </a:pPr>
            <a:r>
              <a:rPr sz="1200" b="1" dirty="0">
                <a:latin typeface="Calibri"/>
                <a:cs typeface="Calibri"/>
              </a:rPr>
              <a:t>XY</a:t>
            </a:r>
            <a:r>
              <a:rPr sz="1200" b="1" spc="-35" dirty="0">
                <a:latin typeface="Calibri"/>
                <a:cs typeface="Calibri"/>
              </a:rPr>
              <a:t> </a:t>
            </a:r>
            <a:r>
              <a:rPr sz="1200" b="1" spc="-5" dirty="0">
                <a:latin typeface="Calibri"/>
                <a:cs typeface="Calibri"/>
              </a:rPr>
              <a:t>Cross-section</a:t>
            </a:r>
            <a:endParaRPr sz="1200">
              <a:latin typeface="Calibri"/>
              <a:cs typeface="Calibri"/>
            </a:endParaRPr>
          </a:p>
        </p:txBody>
      </p:sp>
      <p:sp>
        <p:nvSpPr>
          <p:cNvPr id="96" name="object 7">
            <a:extLst>
              <a:ext uri="{FF2B5EF4-FFF2-40B4-BE49-F238E27FC236}">
                <a16:creationId xmlns:a16="http://schemas.microsoft.com/office/drawing/2014/main" id="{BB459788-0671-D4BA-B6DB-A3544D24EA92}"/>
              </a:ext>
            </a:extLst>
          </p:cNvPr>
          <p:cNvSpPr/>
          <p:nvPr/>
        </p:nvSpPr>
        <p:spPr>
          <a:xfrm>
            <a:off x="3213753" y="3715837"/>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4058049" y="4276669"/>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3402119" y="4503822"/>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4295793" y="4066357"/>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4815731" y="3825642"/>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4295793" y="4276669"/>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6294976" y="4631165"/>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03" name="Flecha: a la derecha 102">
            <a:extLst>
              <a:ext uri="{FF2B5EF4-FFF2-40B4-BE49-F238E27FC236}">
                <a16:creationId xmlns:a16="http://schemas.microsoft.com/office/drawing/2014/main" id="{9104F8E7-45F4-CD32-78F2-E3303B105AF2}"/>
              </a:ext>
            </a:extLst>
          </p:cNvPr>
          <p:cNvSpPr/>
          <p:nvPr/>
        </p:nvSpPr>
        <p:spPr>
          <a:xfrm>
            <a:off x="2652837" y="4587205"/>
            <a:ext cx="390281" cy="177451"/>
          </a:xfrm>
          <a:prstGeom prst="rightArrow">
            <a:avLst/>
          </a:prstGeom>
          <a:solidFill>
            <a:schemeClr val="accent2"/>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1" name="object 7">
            <a:extLst>
              <a:ext uri="{FF2B5EF4-FFF2-40B4-BE49-F238E27FC236}">
                <a16:creationId xmlns:a16="http://schemas.microsoft.com/office/drawing/2014/main" id="{06801468-6F27-A16A-64E3-D7AD4B6B6B96}"/>
              </a:ext>
            </a:extLst>
          </p:cNvPr>
          <p:cNvSpPr/>
          <p:nvPr/>
        </p:nvSpPr>
        <p:spPr>
          <a:xfrm>
            <a:off x="7749273" y="3715837"/>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831313" y="4066357"/>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9351251" y="3825642"/>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831313" y="4276669"/>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830496" y="4631165"/>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749273" y="4983731"/>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933783" y="4287133"/>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591080" y="4982122"/>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709867" y="5180039"/>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9064251" y="4282997"/>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664364" y="5549983"/>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5280887" y="5549983"/>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dirty="0"/>
              <a:t>LAB 0.1. MODESOLVER</a:t>
            </a:r>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materials, output, results.</a:t>
            </a:r>
          </a:p>
          <a:p>
            <a:pPr marL="342900" indent="-342900" algn="just">
              <a:buFont typeface="Arial" panose="020B0604020202020204" pitchFamily="34" charset="0"/>
              <a:buChar char="•"/>
            </a:pPr>
            <a:r>
              <a:rPr lang="en-US" sz="2000" dirty="0"/>
              <a:t>Explain how to run a simulation for a particular cross-section. </a:t>
            </a:r>
          </a:p>
          <a:p>
            <a:pPr marL="342900" indent="-342900" algn="just">
              <a:buFont typeface="Arial" panose="020B0604020202020204" pitchFamily="34" charset="0"/>
              <a:buChar char="•"/>
            </a:pPr>
            <a:r>
              <a:rPr lang="en-US" sz="2000" dirty="0"/>
              <a:t>Showcase how to change between shallow and deep waveguide.</a:t>
            </a:r>
          </a:p>
          <a:p>
            <a:pPr marL="342900" indent="-342900" algn="just">
              <a:buFont typeface="Arial" panose="020B0604020202020204" pitchFamily="34" charset="0"/>
              <a:buChar char="•"/>
            </a:pPr>
            <a:r>
              <a:rPr lang="en-US" sz="2000" dirty="0"/>
              <a:t>Describe how to change the wavelength and width for the waveguide analysis.</a:t>
            </a:r>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a:t>
            </a:r>
            <a:r>
              <a:rPr lang="en-US" sz="1200">
                <a:latin typeface="Arial" panose="020B0604020202020204" pitchFamily="34" charset="0"/>
                <a:cs typeface="Arial" panose="020B0604020202020204" pitchFamily="34" charset="0"/>
              </a:rPr>
              <a:t>of different modes, </a:t>
            </a:r>
            <a:r>
              <a:rPr lang="en-US" sz="1200" dirty="0">
                <a:latin typeface="Arial" panose="020B0604020202020204" pitchFamily="34" charset="0"/>
                <a:cs typeface="Arial" panose="020B0604020202020204" pitchFamily="34" charset="0"/>
              </a:rPr>
              <a:t>comparison between </a:t>
            </a:r>
            <a:r>
              <a:rPr lang="en-US" sz="1200">
                <a:latin typeface="Arial" panose="020B0604020202020204" pitchFamily="34" charset="0"/>
                <a:cs typeface="Arial" panose="020B0604020202020204" pitchFamily="34" charset="0"/>
              </a:rPr>
              <a:t>different polarizations…)</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152400"/>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0.02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dirty="0"/>
              <a:t>LAB 0.1. MODESOLVER</a:t>
            </a:r>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51242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A wavelength dependence of the effective index is observed, it's possible to see as the wavelength increases, the effective index decreases which results in reduced modal confinement and increased field penetration into the cladding region. The shallow waveguide presents higher effective indices than the deep waveguide, suggesting stronger optical confinement, especially for higher-order modes.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400801" y="978596"/>
            <a:ext cx="5408612" cy="4062412"/>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14D86C93-1C21-F56F-67D4-0E0E049ADCC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16041" y="998118"/>
            <a:ext cx="5340107" cy="4023368"/>
          </a:xfrm>
          <a:prstGeom prst="rect">
            <a:avLst/>
          </a:prstGeom>
        </p:spPr>
      </p:pic>
      <p:pic>
        <p:nvPicPr>
          <p:cNvPr id="19" name="Picture 18">
            <a:extLst>
              <a:ext uri="{FF2B5EF4-FFF2-40B4-BE49-F238E27FC236}">
                <a16:creationId xmlns:a16="http://schemas.microsoft.com/office/drawing/2014/main" id="{DDF233AF-C163-8EDA-4CD6-3F848A1A920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09441" y="1017083"/>
            <a:ext cx="5340107" cy="4023368"/>
          </a:xfrm>
          <a:prstGeom prst="rect">
            <a:avLst/>
          </a:prstGeom>
        </p:spPr>
      </p:pic>
      <p:sp>
        <p:nvSpPr>
          <p:cNvPr id="20" name="Rectángulo 6">
            <a:extLst>
              <a:ext uri="{FF2B5EF4-FFF2-40B4-BE49-F238E27FC236}">
                <a16:creationId xmlns:a16="http://schemas.microsoft.com/office/drawing/2014/main" id="{234F2523-140E-4AF2-E26D-5566B772841F}"/>
              </a:ext>
            </a:extLst>
          </p:cNvPr>
          <p:cNvSpPr/>
          <p:nvPr/>
        </p:nvSpPr>
        <p:spPr>
          <a:xfrm>
            <a:off x="609441" y="978596"/>
            <a:ext cx="5408612" cy="4062412"/>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123560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4A1F9-B17A-D259-8DEB-8F845EE423B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4241CCE-5104-0808-068B-267BF3991030}"/>
              </a:ext>
            </a:extLst>
          </p:cNvPr>
          <p:cNvSpPr txBox="1">
            <a:spLocks noGrp="1"/>
          </p:cNvSpPr>
          <p:nvPr>
            <p:ph type="title"/>
          </p:nvPr>
        </p:nvSpPr>
        <p:spPr>
          <a:xfrm>
            <a:off x="642989" y="444676"/>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0.02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9FE7955E-9AEF-BAB0-5779-1EC4FE5017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2670A80-4700-1C6F-048C-08666B2C765F}"/>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2787DA72-D9FE-CE5D-7DC4-C62D5423EBC6}"/>
              </a:ext>
            </a:extLst>
          </p:cNvPr>
          <p:cNvSpPr>
            <a:spLocks noGrp="1"/>
          </p:cNvSpPr>
          <p:nvPr>
            <p:ph type="ftr" sz="quarter" idx="5"/>
          </p:nvPr>
        </p:nvSpPr>
        <p:spPr/>
        <p:txBody>
          <a:bodyPr/>
          <a:lstStyle/>
          <a:p>
            <a:pPr marL="12700">
              <a:spcBef>
                <a:spcPts val="15"/>
              </a:spcBef>
            </a:pPr>
            <a:r>
              <a:rPr lang="es-ES" spc="-5" dirty="0"/>
              <a:t>LAB 0.1. MODESOLVER</a:t>
            </a:r>
          </a:p>
        </p:txBody>
      </p:sp>
      <p:sp>
        <p:nvSpPr>
          <p:cNvPr id="2" name="CuadroTexto 1">
            <a:extLst>
              <a:ext uri="{FF2B5EF4-FFF2-40B4-BE49-F238E27FC236}">
                <a16:creationId xmlns:a16="http://schemas.microsoft.com/office/drawing/2014/main" id="{3DD9F2D4-C74D-1BDB-0E31-BB2B4FC04FEB}"/>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r>
              <a:rPr lang="en-US" sz="1200" dirty="0">
                <a:latin typeface="Arial" panose="020B0604020202020204" pitchFamily="34" charset="0"/>
                <a:cs typeface="Arial" panose="020B0604020202020204" pitchFamily="34" charset="0"/>
              </a:rPr>
              <a:t>Although the modes are commonly labeled as TE and TM, dielectric waveguides strictly support hybrid modes with non-zero longitudinal electric and magnetic field components. The TE/TM terminology therefore refers to the dominant polarization component rather than to a purely transverse electromagnetic mode.</a:t>
            </a:r>
          </a:p>
          <a:p>
            <a:endParaRPr lang="en-US" sz="1200" dirty="0">
              <a:latin typeface="Arial" panose="020B0604020202020204" pitchFamily="34" charset="0"/>
              <a:cs typeface="Arial" panose="020B0604020202020204" pitchFamily="34" charset="0"/>
            </a:endParaRPr>
          </a:p>
          <a:p>
            <a:r>
              <a:rPr lang="en-US" sz="1200" dirty="0">
                <a:latin typeface="Arial" panose="020B0604020202020204" pitchFamily="34" charset="0"/>
                <a:cs typeface="Arial" panose="020B0604020202020204" pitchFamily="34" charset="0"/>
              </a:rPr>
              <a:t>A useful analogy is that of a guitar string vibrating inside a narrow box. When the string interacts with the boundaries, it must conform to the geometry of the enclosure. As a result, it cannot remain perfectly flat and develops a slight curvature in another direction. Similarly, optical confinement forces the electromagnetic field to acquire small longitudinal components.</a:t>
            </a:r>
          </a:p>
        </p:txBody>
      </p:sp>
      <p:sp>
        <p:nvSpPr>
          <p:cNvPr id="5" name="Rectángulo 4">
            <a:extLst>
              <a:ext uri="{FF2B5EF4-FFF2-40B4-BE49-F238E27FC236}">
                <a16:creationId xmlns:a16="http://schemas.microsoft.com/office/drawing/2014/main" id="{E6B0DE1B-81F5-401F-32FA-EE5580185104}"/>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793BC840-DC34-5AD0-9439-AAFAA1909AA2}"/>
              </a:ext>
            </a:extLst>
          </p:cNvPr>
          <p:cNvSpPr txBox="1"/>
          <p:nvPr/>
        </p:nvSpPr>
        <p:spPr>
          <a:xfrm>
            <a:off x="2285455" y="1418373"/>
            <a:ext cx="1980542" cy="646331"/>
          </a:xfrm>
          <a:prstGeom prst="rect">
            <a:avLst/>
          </a:prstGeom>
          <a:noFill/>
        </p:spPr>
        <p:txBody>
          <a:bodyPr wrap="none" rtlCol="0">
            <a:spAutoFit/>
          </a:bodyPr>
          <a:lstStyle/>
          <a:p>
            <a:pPr algn="ctr"/>
            <a:r>
              <a:rPr lang="en-US" b="1" dirty="0"/>
              <a:t>shallow</a:t>
            </a:r>
            <a:r>
              <a:rPr lang="en-US" dirty="0"/>
              <a:t> waveguide</a:t>
            </a:r>
          </a:p>
          <a:p>
            <a:pPr algn="ctr"/>
            <a:endParaRPr lang="en-US" dirty="0"/>
          </a:p>
        </p:txBody>
      </p:sp>
      <p:sp>
        <p:nvSpPr>
          <p:cNvPr id="7" name="Rectángulo 6">
            <a:extLst>
              <a:ext uri="{FF2B5EF4-FFF2-40B4-BE49-F238E27FC236}">
                <a16:creationId xmlns:a16="http://schemas.microsoft.com/office/drawing/2014/main" id="{46A0609C-1813-0E00-E002-B10E9E683927}"/>
              </a:ext>
            </a:extLst>
          </p:cNvPr>
          <p:cNvSpPr/>
          <p:nvPr/>
        </p:nvSpPr>
        <p:spPr>
          <a:xfrm>
            <a:off x="64768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D1EE6A81-CB10-40E0-6B41-D009F31CEBDF}"/>
              </a:ext>
            </a:extLst>
          </p:cNvPr>
          <p:cNvSpPr txBox="1"/>
          <p:nvPr/>
        </p:nvSpPr>
        <p:spPr>
          <a:xfrm>
            <a:off x="8281672" y="1431481"/>
            <a:ext cx="1722908" cy="646331"/>
          </a:xfrm>
          <a:prstGeom prst="rect">
            <a:avLst/>
          </a:prstGeom>
          <a:noFill/>
        </p:spPr>
        <p:txBody>
          <a:bodyPr wrap="none" rtlCol="0">
            <a:spAutoFit/>
          </a:bodyPr>
          <a:lstStyle/>
          <a:p>
            <a:pPr algn="ctr"/>
            <a:r>
              <a:rPr lang="en-US" b="1" dirty="0"/>
              <a:t>deep</a:t>
            </a:r>
            <a:r>
              <a:rPr lang="en-US" dirty="0"/>
              <a:t> waveguide</a:t>
            </a:r>
          </a:p>
          <a:p>
            <a:pPr algn="ctr"/>
            <a:endParaRPr lang="en-US" dirty="0"/>
          </a:p>
        </p:txBody>
      </p:sp>
      <p:sp>
        <p:nvSpPr>
          <p:cNvPr id="9" name="CuadroTexto 8">
            <a:extLst>
              <a:ext uri="{FF2B5EF4-FFF2-40B4-BE49-F238E27FC236}">
                <a16:creationId xmlns:a16="http://schemas.microsoft.com/office/drawing/2014/main" id="{AC3976AC-32BA-57BF-BF7C-CF4AFD25984C}"/>
              </a:ext>
            </a:extLst>
          </p:cNvPr>
          <p:cNvSpPr txBox="1"/>
          <p:nvPr/>
        </p:nvSpPr>
        <p:spPr>
          <a:xfrm>
            <a:off x="642989" y="4402885"/>
            <a:ext cx="2269787" cy="369332"/>
          </a:xfrm>
          <a:prstGeom prst="rect">
            <a:avLst/>
          </a:prstGeom>
          <a:noFill/>
        </p:spPr>
        <p:txBody>
          <a:bodyPr wrap="square">
            <a:spAutoFit/>
          </a:bodyPr>
          <a:lstStyle/>
          <a:p>
            <a:r>
              <a:rPr lang="en-US" dirty="0"/>
              <a:t>slab = 150nm</a:t>
            </a:r>
            <a:endParaRPr lang="es-ES" dirty="0"/>
          </a:p>
        </p:txBody>
      </p:sp>
      <p:graphicFrame>
        <p:nvGraphicFramePr>
          <p:cNvPr id="4" name="Table 3">
            <a:extLst>
              <a:ext uri="{FF2B5EF4-FFF2-40B4-BE49-F238E27FC236}">
                <a16:creationId xmlns:a16="http://schemas.microsoft.com/office/drawing/2014/main" id="{44EA674A-3779-2154-CF71-B808CD25603F}"/>
              </a:ext>
            </a:extLst>
          </p:cNvPr>
          <p:cNvGraphicFramePr>
            <a:graphicFrameLocks noGrp="1"/>
          </p:cNvGraphicFramePr>
          <p:nvPr>
            <p:extLst>
              <p:ext uri="{D42A27DB-BD31-4B8C-83A1-F6EECF244321}">
                <p14:modId xmlns:p14="http://schemas.microsoft.com/office/powerpoint/2010/main" val="2535916311"/>
              </p:ext>
            </p:extLst>
          </p:nvPr>
        </p:nvGraphicFramePr>
        <p:xfrm>
          <a:off x="838200" y="1788140"/>
          <a:ext cx="4736226" cy="1854200"/>
        </p:xfrm>
        <a:graphic>
          <a:graphicData uri="http://schemas.openxmlformats.org/drawingml/2006/table">
            <a:tbl>
              <a:tblPr firstRow="1" bandRow="1">
                <a:tableStyleId>{93296810-A885-4BE3-A3E7-6D5BEEA58F35}</a:tableStyleId>
              </a:tblPr>
              <a:tblGrid>
                <a:gridCol w="762000">
                  <a:extLst>
                    <a:ext uri="{9D8B030D-6E8A-4147-A177-3AD203B41FA5}">
                      <a16:colId xmlns:a16="http://schemas.microsoft.com/office/drawing/2014/main" val="3041346627"/>
                    </a:ext>
                  </a:extLst>
                </a:gridCol>
                <a:gridCol w="1905000">
                  <a:extLst>
                    <a:ext uri="{9D8B030D-6E8A-4147-A177-3AD203B41FA5}">
                      <a16:colId xmlns:a16="http://schemas.microsoft.com/office/drawing/2014/main" val="3084746677"/>
                    </a:ext>
                  </a:extLst>
                </a:gridCol>
                <a:gridCol w="2069226">
                  <a:extLst>
                    <a:ext uri="{9D8B030D-6E8A-4147-A177-3AD203B41FA5}">
                      <a16:colId xmlns:a16="http://schemas.microsoft.com/office/drawing/2014/main" val="22551052"/>
                    </a:ext>
                  </a:extLst>
                </a:gridCol>
              </a:tblGrid>
              <a:tr h="370840">
                <a:tc>
                  <a:txBody>
                    <a:bodyPr/>
                    <a:lstStyle/>
                    <a:p>
                      <a:pPr algn="ctr"/>
                      <a:r>
                        <a:rPr lang="es-MX" dirty="0" err="1"/>
                        <a:t>Mode</a:t>
                      </a:r>
                      <a:endParaRPr lang="es-CO" dirty="0"/>
                    </a:p>
                  </a:txBody>
                  <a:tcPr/>
                </a:tc>
                <a:tc>
                  <a:txBody>
                    <a:bodyPr/>
                    <a:lstStyle/>
                    <a:p>
                      <a:pPr algn="ctr"/>
                      <a:r>
                        <a:rPr lang="es-MX" dirty="0"/>
                        <a:t>TE </a:t>
                      </a:r>
                      <a:r>
                        <a:rPr lang="es-MX" dirty="0" err="1"/>
                        <a:t>Fraction</a:t>
                      </a:r>
                      <a:r>
                        <a:rPr lang="es-MX" dirty="0"/>
                        <a:t> (%)</a:t>
                      </a:r>
                      <a:endParaRPr lang="es-CO" dirty="0"/>
                    </a:p>
                  </a:txBody>
                  <a:tcPr/>
                </a:tc>
                <a:tc>
                  <a:txBody>
                    <a:bodyPr/>
                    <a:lstStyle/>
                    <a:p>
                      <a:pPr algn="ctr"/>
                      <a:r>
                        <a:rPr lang="es-MX" dirty="0"/>
                        <a:t>TM </a:t>
                      </a:r>
                      <a:r>
                        <a:rPr lang="es-MX" dirty="0" err="1"/>
                        <a:t>Fraction</a:t>
                      </a:r>
                      <a:r>
                        <a:rPr lang="es-MX" dirty="0"/>
                        <a:t> (%)</a:t>
                      </a:r>
                      <a:endParaRPr lang="es-CO" dirty="0"/>
                    </a:p>
                  </a:txBody>
                  <a:tcPr/>
                </a:tc>
                <a:extLst>
                  <a:ext uri="{0D108BD9-81ED-4DB2-BD59-A6C34878D82A}">
                    <a16:rowId xmlns:a16="http://schemas.microsoft.com/office/drawing/2014/main" val="2494023800"/>
                  </a:ext>
                </a:extLst>
              </a:tr>
              <a:tr h="370840">
                <a:tc>
                  <a:txBody>
                    <a:bodyPr/>
                    <a:lstStyle/>
                    <a:p>
                      <a:pPr algn="ctr"/>
                      <a:r>
                        <a:rPr lang="es-MX" dirty="0"/>
                        <a:t>1</a:t>
                      </a:r>
                      <a:endParaRPr lang="es-CO" dirty="0"/>
                    </a:p>
                  </a:txBody>
                  <a:tcPr/>
                </a:tc>
                <a:tc>
                  <a:txBody>
                    <a:bodyPr/>
                    <a:lstStyle/>
                    <a:p>
                      <a:pPr algn="ctr"/>
                      <a:r>
                        <a:rPr lang="es-MX" dirty="0"/>
                        <a:t>99,70</a:t>
                      </a:r>
                      <a:endParaRPr lang="es-CO" dirty="0"/>
                    </a:p>
                  </a:txBody>
                  <a:tcPr/>
                </a:tc>
                <a:tc>
                  <a:txBody>
                    <a:bodyPr/>
                    <a:lstStyle/>
                    <a:p>
                      <a:pPr algn="ctr"/>
                      <a:r>
                        <a:rPr lang="es-MX" dirty="0"/>
                        <a:t>0,30</a:t>
                      </a:r>
                      <a:endParaRPr lang="es-CO" dirty="0"/>
                    </a:p>
                  </a:txBody>
                  <a:tcPr/>
                </a:tc>
                <a:extLst>
                  <a:ext uri="{0D108BD9-81ED-4DB2-BD59-A6C34878D82A}">
                    <a16:rowId xmlns:a16="http://schemas.microsoft.com/office/drawing/2014/main" val="2358860069"/>
                  </a:ext>
                </a:extLst>
              </a:tr>
              <a:tr h="370840">
                <a:tc>
                  <a:txBody>
                    <a:bodyPr/>
                    <a:lstStyle/>
                    <a:p>
                      <a:pPr algn="ctr"/>
                      <a:r>
                        <a:rPr lang="es-MX" dirty="0"/>
                        <a:t>2</a:t>
                      </a:r>
                      <a:endParaRPr lang="es-CO" dirty="0"/>
                    </a:p>
                  </a:txBody>
                  <a:tcPr/>
                </a:tc>
                <a:tc>
                  <a:txBody>
                    <a:bodyPr/>
                    <a:lstStyle/>
                    <a:p>
                      <a:pPr algn="ctr"/>
                      <a:r>
                        <a:rPr lang="es-MX" dirty="0"/>
                        <a:t>70,64</a:t>
                      </a:r>
                      <a:endParaRPr lang="es-CO" dirty="0"/>
                    </a:p>
                  </a:txBody>
                  <a:tcPr/>
                </a:tc>
                <a:tc>
                  <a:txBody>
                    <a:bodyPr/>
                    <a:lstStyle/>
                    <a:p>
                      <a:pPr algn="ctr"/>
                      <a:r>
                        <a:rPr lang="es-MX" dirty="0"/>
                        <a:t>29,36</a:t>
                      </a:r>
                      <a:endParaRPr lang="es-CO" dirty="0"/>
                    </a:p>
                  </a:txBody>
                  <a:tcPr/>
                </a:tc>
                <a:extLst>
                  <a:ext uri="{0D108BD9-81ED-4DB2-BD59-A6C34878D82A}">
                    <a16:rowId xmlns:a16="http://schemas.microsoft.com/office/drawing/2014/main" val="2179461528"/>
                  </a:ext>
                </a:extLst>
              </a:tr>
              <a:tr h="370840">
                <a:tc>
                  <a:txBody>
                    <a:bodyPr/>
                    <a:lstStyle/>
                    <a:p>
                      <a:pPr algn="ctr"/>
                      <a:r>
                        <a:rPr lang="es-MX" dirty="0"/>
                        <a:t>3</a:t>
                      </a:r>
                      <a:endParaRPr lang="es-CO" dirty="0"/>
                    </a:p>
                  </a:txBody>
                  <a:tcPr/>
                </a:tc>
                <a:tc>
                  <a:txBody>
                    <a:bodyPr/>
                    <a:lstStyle/>
                    <a:p>
                      <a:pPr algn="ctr"/>
                      <a:r>
                        <a:rPr lang="es-MX" dirty="0"/>
                        <a:t>17,53</a:t>
                      </a:r>
                      <a:endParaRPr lang="es-CO" dirty="0"/>
                    </a:p>
                  </a:txBody>
                  <a:tcPr/>
                </a:tc>
                <a:tc>
                  <a:txBody>
                    <a:bodyPr/>
                    <a:lstStyle/>
                    <a:p>
                      <a:pPr algn="ctr"/>
                      <a:r>
                        <a:rPr lang="es-MX" dirty="0"/>
                        <a:t>82,47</a:t>
                      </a:r>
                      <a:endParaRPr lang="es-CO" dirty="0"/>
                    </a:p>
                  </a:txBody>
                  <a:tcPr/>
                </a:tc>
                <a:extLst>
                  <a:ext uri="{0D108BD9-81ED-4DB2-BD59-A6C34878D82A}">
                    <a16:rowId xmlns:a16="http://schemas.microsoft.com/office/drawing/2014/main" val="1876550799"/>
                  </a:ext>
                </a:extLst>
              </a:tr>
              <a:tr h="370840">
                <a:tc>
                  <a:txBody>
                    <a:bodyPr/>
                    <a:lstStyle/>
                    <a:p>
                      <a:pPr algn="ctr"/>
                      <a:r>
                        <a:rPr lang="es-MX" dirty="0"/>
                        <a:t>4</a:t>
                      </a:r>
                      <a:endParaRPr lang="es-CO" dirty="0"/>
                    </a:p>
                  </a:txBody>
                  <a:tcPr/>
                </a:tc>
                <a:tc>
                  <a:txBody>
                    <a:bodyPr/>
                    <a:lstStyle/>
                    <a:p>
                      <a:pPr algn="ctr"/>
                      <a:r>
                        <a:rPr lang="es-MX" dirty="0"/>
                        <a:t>100,00</a:t>
                      </a:r>
                      <a:endParaRPr lang="es-CO" dirty="0"/>
                    </a:p>
                  </a:txBody>
                  <a:tcPr/>
                </a:tc>
                <a:tc>
                  <a:txBody>
                    <a:bodyPr/>
                    <a:lstStyle/>
                    <a:p>
                      <a:pPr algn="ctr"/>
                      <a:r>
                        <a:rPr lang="es-MX" dirty="0"/>
                        <a:t>0,00</a:t>
                      </a:r>
                      <a:endParaRPr lang="es-CO" dirty="0"/>
                    </a:p>
                  </a:txBody>
                  <a:tcPr/>
                </a:tc>
                <a:extLst>
                  <a:ext uri="{0D108BD9-81ED-4DB2-BD59-A6C34878D82A}">
                    <a16:rowId xmlns:a16="http://schemas.microsoft.com/office/drawing/2014/main" val="3280802540"/>
                  </a:ext>
                </a:extLst>
              </a:tr>
            </a:tbl>
          </a:graphicData>
        </a:graphic>
      </p:graphicFrame>
      <p:graphicFrame>
        <p:nvGraphicFramePr>
          <p:cNvPr id="10" name="Table 9">
            <a:extLst>
              <a:ext uri="{FF2B5EF4-FFF2-40B4-BE49-F238E27FC236}">
                <a16:creationId xmlns:a16="http://schemas.microsoft.com/office/drawing/2014/main" id="{0C7C609A-72B8-02F0-0149-9E08079D5E5C}"/>
              </a:ext>
            </a:extLst>
          </p:cNvPr>
          <p:cNvGraphicFramePr>
            <a:graphicFrameLocks noGrp="1"/>
          </p:cNvGraphicFramePr>
          <p:nvPr>
            <p:extLst>
              <p:ext uri="{D42A27DB-BD31-4B8C-83A1-F6EECF244321}">
                <p14:modId xmlns:p14="http://schemas.microsoft.com/office/powerpoint/2010/main" val="2600884938"/>
              </p:ext>
            </p:extLst>
          </p:nvPr>
        </p:nvGraphicFramePr>
        <p:xfrm>
          <a:off x="6846333" y="1788140"/>
          <a:ext cx="4736226" cy="1854200"/>
        </p:xfrm>
        <a:graphic>
          <a:graphicData uri="http://schemas.openxmlformats.org/drawingml/2006/table">
            <a:tbl>
              <a:tblPr firstRow="1" bandRow="1">
                <a:tableStyleId>{93296810-A885-4BE3-A3E7-6D5BEEA58F35}</a:tableStyleId>
              </a:tblPr>
              <a:tblGrid>
                <a:gridCol w="762000">
                  <a:extLst>
                    <a:ext uri="{9D8B030D-6E8A-4147-A177-3AD203B41FA5}">
                      <a16:colId xmlns:a16="http://schemas.microsoft.com/office/drawing/2014/main" val="3041346627"/>
                    </a:ext>
                  </a:extLst>
                </a:gridCol>
                <a:gridCol w="1905000">
                  <a:extLst>
                    <a:ext uri="{9D8B030D-6E8A-4147-A177-3AD203B41FA5}">
                      <a16:colId xmlns:a16="http://schemas.microsoft.com/office/drawing/2014/main" val="3084746677"/>
                    </a:ext>
                  </a:extLst>
                </a:gridCol>
                <a:gridCol w="2069226">
                  <a:extLst>
                    <a:ext uri="{9D8B030D-6E8A-4147-A177-3AD203B41FA5}">
                      <a16:colId xmlns:a16="http://schemas.microsoft.com/office/drawing/2014/main" val="22551052"/>
                    </a:ext>
                  </a:extLst>
                </a:gridCol>
              </a:tblGrid>
              <a:tr h="370840">
                <a:tc>
                  <a:txBody>
                    <a:bodyPr/>
                    <a:lstStyle/>
                    <a:p>
                      <a:pPr algn="ctr"/>
                      <a:r>
                        <a:rPr lang="es-MX" dirty="0" err="1"/>
                        <a:t>Mode</a:t>
                      </a:r>
                      <a:endParaRPr lang="es-CO" dirty="0"/>
                    </a:p>
                  </a:txBody>
                  <a:tcPr/>
                </a:tc>
                <a:tc>
                  <a:txBody>
                    <a:bodyPr/>
                    <a:lstStyle/>
                    <a:p>
                      <a:pPr algn="ctr"/>
                      <a:r>
                        <a:rPr lang="es-MX" dirty="0"/>
                        <a:t>TE </a:t>
                      </a:r>
                      <a:r>
                        <a:rPr lang="es-MX" dirty="0" err="1"/>
                        <a:t>Fraction</a:t>
                      </a:r>
                      <a:r>
                        <a:rPr lang="es-MX" dirty="0"/>
                        <a:t> (%)</a:t>
                      </a:r>
                      <a:endParaRPr lang="es-CO" dirty="0"/>
                    </a:p>
                  </a:txBody>
                  <a:tcPr/>
                </a:tc>
                <a:tc>
                  <a:txBody>
                    <a:bodyPr/>
                    <a:lstStyle/>
                    <a:p>
                      <a:pPr algn="ctr"/>
                      <a:r>
                        <a:rPr lang="es-MX" dirty="0"/>
                        <a:t>TM </a:t>
                      </a:r>
                      <a:r>
                        <a:rPr lang="es-MX" dirty="0" err="1"/>
                        <a:t>Fraction</a:t>
                      </a:r>
                      <a:r>
                        <a:rPr lang="es-MX" dirty="0"/>
                        <a:t> (%)</a:t>
                      </a:r>
                      <a:endParaRPr lang="es-CO" dirty="0"/>
                    </a:p>
                  </a:txBody>
                  <a:tcPr/>
                </a:tc>
                <a:extLst>
                  <a:ext uri="{0D108BD9-81ED-4DB2-BD59-A6C34878D82A}">
                    <a16:rowId xmlns:a16="http://schemas.microsoft.com/office/drawing/2014/main" val="2494023800"/>
                  </a:ext>
                </a:extLst>
              </a:tr>
              <a:tr h="370840">
                <a:tc>
                  <a:txBody>
                    <a:bodyPr/>
                    <a:lstStyle/>
                    <a:p>
                      <a:pPr algn="ctr"/>
                      <a:r>
                        <a:rPr lang="es-MX" dirty="0"/>
                        <a:t>1</a:t>
                      </a:r>
                      <a:endParaRPr lang="es-CO" dirty="0"/>
                    </a:p>
                  </a:txBody>
                  <a:tcPr/>
                </a:tc>
                <a:tc>
                  <a:txBody>
                    <a:bodyPr/>
                    <a:lstStyle/>
                    <a:p>
                      <a:pPr algn="ctr"/>
                      <a:r>
                        <a:rPr lang="es-MX" dirty="0"/>
                        <a:t>99,50</a:t>
                      </a:r>
                      <a:endParaRPr lang="es-CO" dirty="0"/>
                    </a:p>
                  </a:txBody>
                  <a:tcPr/>
                </a:tc>
                <a:tc>
                  <a:txBody>
                    <a:bodyPr/>
                    <a:lstStyle/>
                    <a:p>
                      <a:pPr algn="ctr"/>
                      <a:r>
                        <a:rPr lang="es-MX" dirty="0"/>
                        <a:t>0,50</a:t>
                      </a:r>
                      <a:endParaRPr lang="es-CO" dirty="0"/>
                    </a:p>
                  </a:txBody>
                  <a:tcPr/>
                </a:tc>
                <a:extLst>
                  <a:ext uri="{0D108BD9-81ED-4DB2-BD59-A6C34878D82A}">
                    <a16:rowId xmlns:a16="http://schemas.microsoft.com/office/drawing/2014/main" val="2358860069"/>
                  </a:ext>
                </a:extLst>
              </a:tr>
              <a:tr h="370840">
                <a:tc>
                  <a:txBody>
                    <a:bodyPr/>
                    <a:lstStyle/>
                    <a:p>
                      <a:pPr algn="ctr"/>
                      <a:r>
                        <a:rPr lang="es-MX" dirty="0"/>
                        <a:t>2</a:t>
                      </a:r>
                      <a:endParaRPr lang="es-CO" dirty="0"/>
                    </a:p>
                  </a:txBody>
                  <a:tcPr/>
                </a:tc>
                <a:tc>
                  <a:txBody>
                    <a:bodyPr/>
                    <a:lstStyle/>
                    <a:p>
                      <a:pPr algn="ctr"/>
                      <a:r>
                        <a:rPr lang="es-MX" dirty="0"/>
                        <a:t>0,96</a:t>
                      </a:r>
                      <a:endParaRPr lang="es-CO" dirty="0"/>
                    </a:p>
                  </a:txBody>
                  <a:tcPr/>
                </a:tc>
                <a:tc>
                  <a:txBody>
                    <a:bodyPr/>
                    <a:lstStyle/>
                    <a:p>
                      <a:pPr algn="ctr"/>
                      <a:r>
                        <a:rPr lang="es-MX" dirty="0"/>
                        <a:t>99,04</a:t>
                      </a:r>
                      <a:endParaRPr lang="es-CO" dirty="0"/>
                    </a:p>
                  </a:txBody>
                  <a:tcPr/>
                </a:tc>
                <a:extLst>
                  <a:ext uri="{0D108BD9-81ED-4DB2-BD59-A6C34878D82A}">
                    <a16:rowId xmlns:a16="http://schemas.microsoft.com/office/drawing/2014/main" val="2179461528"/>
                  </a:ext>
                </a:extLst>
              </a:tr>
              <a:tr h="370840">
                <a:tc>
                  <a:txBody>
                    <a:bodyPr/>
                    <a:lstStyle/>
                    <a:p>
                      <a:pPr algn="ctr"/>
                      <a:r>
                        <a:rPr lang="es-MX" dirty="0"/>
                        <a:t>3</a:t>
                      </a:r>
                      <a:endParaRPr lang="es-CO" dirty="0"/>
                    </a:p>
                  </a:txBody>
                  <a:tcPr/>
                </a:tc>
                <a:tc>
                  <a:txBody>
                    <a:bodyPr/>
                    <a:lstStyle/>
                    <a:p>
                      <a:pPr algn="ctr"/>
                      <a:r>
                        <a:rPr lang="es-MX" dirty="0"/>
                        <a:t>96,33</a:t>
                      </a:r>
                      <a:endParaRPr lang="es-CO" dirty="0"/>
                    </a:p>
                  </a:txBody>
                  <a:tcPr/>
                </a:tc>
                <a:tc>
                  <a:txBody>
                    <a:bodyPr/>
                    <a:lstStyle/>
                    <a:p>
                      <a:pPr algn="ctr"/>
                      <a:r>
                        <a:rPr lang="es-MX" dirty="0"/>
                        <a:t>3,67</a:t>
                      </a:r>
                      <a:endParaRPr lang="es-CO" dirty="0"/>
                    </a:p>
                  </a:txBody>
                  <a:tcPr/>
                </a:tc>
                <a:extLst>
                  <a:ext uri="{0D108BD9-81ED-4DB2-BD59-A6C34878D82A}">
                    <a16:rowId xmlns:a16="http://schemas.microsoft.com/office/drawing/2014/main" val="1876550799"/>
                  </a:ext>
                </a:extLst>
              </a:tr>
              <a:tr h="370840">
                <a:tc>
                  <a:txBody>
                    <a:bodyPr/>
                    <a:lstStyle/>
                    <a:p>
                      <a:pPr algn="ctr"/>
                      <a:r>
                        <a:rPr lang="es-MX" dirty="0"/>
                        <a:t>4</a:t>
                      </a:r>
                      <a:endParaRPr lang="es-CO" dirty="0"/>
                    </a:p>
                  </a:txBody>
                  <a:tcPr/>
                </a:tc>
                <a:tc>
                  <a:txBody>
                    <a:bodyPr/>
                    <a:lstStyle/>
                    <a:p>
                      <a:pPr algn="ctr"/>
                      <a:r>
                        <a:rPr lang="es-MX" dirty="0"/>
                        <a:t>5,01</a:t>
                      </a:r>
                      <a:endParaRPr lang="es-CO" dirty="0"/>
                    </a:p>
                  </a:txBody>
                  <a:tcPr/>
                </a:tc>
                <a:tc>
                  <a:txBody>
                    <a:bodyPr/>
                    <a:lstStyle/>
                    <a:p>
                      <a:pPr algn="ctr"/>
                      <a:r>
                        <a:rPr lang="es-MX" dirty="0"/>
                        <a:t>94,99</a:t>
                      </a:r>
                      <a:endParaRPr lang="es-CO" dirty="0"/>
                    </a:p>
                  </a:txBody>
                  <a:tcPr/>
                </a:tc>
                <a:extLst>
                  <a:ext uri="{0D108BD9-81ED-4DB2-BD59-A6C34878D82A}">
                    <a16:rowId xmlns:a16="http://schemas.microsoft.com/office/drawing/2014/main" val="3280802540"/>
                  </a:ext>
                </a:extLst>
              </a:tr>
            </a:tbl>
          </a:graphicData>
        </a:graphic>
      </p:graphicFrame>
    </p:spTree>
    <p:extLst>
      <p:ext uri="{BB962C8B-B14F-4D97-AF65-F5344CB8AC3E}">
        <p14:creationId xmlns:p14="http://schemas.microsoft.com/office/powerpoint/2010/main" val="27050344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6</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493</TotalTime>
  <Words>703</Words>
  <Application>Microsoft Office PowerPoint</Application>
  <PresentationFormat>Widescreen</PresentationFormat>
  <Paragraphs>101</Paragraphs>
  <Slides>6</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Aptos</vt:lpstr>
      <vt:lpstr>Arial</vt:lpstr>
      <vt:lpstr>Calibri</vt:lpstr>
      <vt:lpstr>Lucida Sans</vt:lpstr>
      <vt:lpstr>Times New Roman</vt:lpstr>
      <vt:lpstr>Wingdings</vt:lpstr>
      <vt:lpstr>Office Theme</vt:lpstr>
      <vt:lpstr>PowerPoint Presentation</vt:lpstr>
      <vt:lpstr>Instructions General</vt:lpstr>
      <vt:lpstr>Learning outcome #1 – Effective index of a waveguide </vt:lpstr>
      <vt:lpstr>Learning outcome #2 – Wavelength behavior Wavelength 1.5-1.6 µm (step 0.02 µm) – width 1.2 µm</vt:lpstr>
      <vt:lpstr>Learning outcome #2 – Wavelength behavior Wavelength 1.5-1.6 µm (step 0.02 µm) – width 1.2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Nicolás Ospina Mendivelso</cp:lastModifiedBy>
  <cp:revision>10</cp:revision>
  <dcterms:created xsi:type="dcterms:W3CDTF">2025-01-27T02:46:57Z</dcterms:created>
  <dcterms:modified xsi:type="dcterms:W3CDTF">2026-03-02T05:11:46Z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